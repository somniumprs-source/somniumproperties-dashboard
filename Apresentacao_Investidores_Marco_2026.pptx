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228600"/>
            <a:ext cx="457200" cy="1371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28600" y="228600"/>
            <a:ext cx="13716" cy="4572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58200" y="228600"/>
            <a:ext cx="457200" cy="1371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01684" y="228600"/>
            <a:ext cx="13716" cy="4572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4901184"/>
            <a:ext cx="457200" cy="1371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" y="4457700"/>
            <a:ext cx="13716" cy="4572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58200" y="4901184"/>
            <a:ext cx="457200" cy="1371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01684" y="4457700"/>
            <a:ext cx="13716" cy="4572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10" name="Image 0" descr="/Users/alexandremendes/Desktop/Somnium Properties/SomniumProperties-Dashboard/public/logo-dark-transpare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0" y="640080"/>
            <a:ext cx="1828800" cy="7315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457200" y="17830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D0D0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Investimento e Gestão de Ativos</a:t>
            </a:r>
            <a:endParaRPr lang="en-US" sz="4000" dirty="0"/>
          </a:p>
        </p:txBody>
      </p:sp>
      <p:sp>
        <p:nvSpPr>
          <p:cNvPr id="12" name="Text 9"/>
          <p:cNvSpPr/>
          <p:nvPr/>
        </p:nvSpPr>
        <p:spPr>
          <a:xfrm>
            <a:off x="457200" y="2697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A88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Rigor Clínico, Transparência Total e Rentabilidade.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3886200" y="3337560"/>
            <a:ext cx="1371600" cy="228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57200" y="35204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Uma abordagem de 'Zero Improviso' ao investimento imobiliário.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200" kern="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Preparado para Investidores Privados   |  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lexandremendes/Desktop/Somnium Properties/SomniumProperties-Dashboard/public/logo-dark-transpare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274320"/>
            <a:ext cx="960120" cy="38404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28600" y="228600"/>
            <a:ext cx="457200" cy="1371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228600" y="228600"/>
            <a:ext cx="13716" cy="4572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458200" y="228600"/>
            <a:ext cx="457200" cy="1371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901684" y="228600"/>
            <a:ext cx="13716" cy="4572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28600" y="4901184"/>
            <a:ext cx="457200" cy="1371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28600" y="4457700"/>
            <a:ext cx="13716" cy="4572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58200" y="4901184"/>
            <a:ext cx="457200" cy="1371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901684" y="4457700"/>
            <a:ext cx="13716" cy="4572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C9A84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 DESAFIO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57200" y="11430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D0D0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Assimetria do Risco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88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Investir sozinho versus investir com a Somnium.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914400" y="2377440"/>
            <a:ext cx="3657600" cy="457200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23774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 Investidor Solitário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937760" y="2377440"/>
            <a:ext cx="3657600" cy="4572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937760" y="23774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0D0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Parceria Somnium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365760" y="2880360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8A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Tempo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914400" y="2880360"/>
            <a:ext cx="365760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E0DDD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097280" y="288036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Prospeção, negociação e gestão de obras consomem o seu dia.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937760" y="2880360"/>
            <a:ext cx="3657600" cy="594360"/>
          </a:xfrm>
          <a:prstGeom prst="rect">
            <a:avLst/>
          </a:prstGeom>
          <a:solidFill>
            <a:srgbClr val="F5EFE0"/>
          </a:solidFill>
          <a:ln w="9525">
            <a:solidFill>
              <a:srgbClr val="C9A84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120640" y="288036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Alocação passiva. Esforço nulo.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365760" y="3566160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8A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Risco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914400" y="3566160"/>
            <a:ext cx="365760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E0DDD5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097280" y="356616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Decisões emocionais. Derrapagens não calculadas.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937760" y="3566160"/>
            <a:ext cx="3657600" cy="594360"/>
          </a:xfrm>
          <a:prstGeom prst="rect">
            <a:avLst/>
          </a:prstGeom>
          <a:solidFill>
            <a:srgbClr val="F5EFE0"/>
          </a:solidFill>
          <a:ln w="9525">
            <a:solidFill>
              <a:srgbClr val="C9A84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120640" y="356616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Decisões blindadas por matemática (MAO) e Stress Tests.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365760" y="4251960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8A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Rede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914400" y="4251960"/>
            <a:ext cx="365760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E0DDD5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1097280" y="425196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Empreiteiros incertos. Pouco poder negocial.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937760" y="4251960"/>
            <a:ext cx="3657600" cy="594360"/>
          </a:xfrm>
          <a:prstGeom prst="rect">
            <a:avLst/>
          </a:prstGeom>
          <a:solidFill>
            <a:srgbClr val="F5EFE0"/>
          </a:solidFill>
          <a:ln w="9525">
            <a:solidFill>
              <a:srgbClr val="C9A84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120640" y="425196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Equipa clínica + gestor de obra + 72 parceiros.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lexandremendes/Desktop/Somnium Properties/SomniumProperties-Dashboard/public/logo-dark-transpare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274320"/>
            <a:ext cx="960120" cy="38404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28600" y="228600"/>
            <a:ext cx="457200" cy="1371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228600" y="228600"/>
            <a:ext cx="13716" cy="4572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458200" y="228600"/>
            <a:ext cx="457200" cy="1371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901684" y="228600"/>
            <a:ext cx="13716" cy="4572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28600" y="4901184"/>
            <a:ext cx="457200" cy="1371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28600" y="4457700"/>
            <a:ext cx="13716" cy="4572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58200" y="4901184"/>
            <a:ext cx="457200" cy="1371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901684" y="4457700"/>
            <a:ext cx="13716" cy="4572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C9A84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NOSSA SOLUÇÃO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57200" y="11430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D0D0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Filosofia "Zero Improviso"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88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Disciplina clínica aplicada ao investimento imobiliário.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388620" y="2331720"/>
            <a:ext cx="269748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8620" y="2331720"/>
            <a:ext cx="269748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71500" y="260604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D0D0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Origem Clínica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1554480" y="3200400"/>
            <a:ext cx="365760" cy="1828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17220" y="333756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Fundadores com background na área da Saúde. Transpomos a cultura de protocolos rigorosos para a gestão de ativos.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3223260" y="2331720"/>
            <a:ext cx="269748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223260" y="2331720"/>
            <a:ext cx="269748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406140" y="260604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D0D0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Estrutura Institucional</a:t>
            </a:r>
            <a:endParaRPr lang="en-US" sz="1700" dirty="0"/>
          </a:p>
        </p:txBody>
      </p:sp>
      <p:sp>
        <p:nvSpPr>
          <p:cNvPr id="22" name="Shape 19"/>
          <p:cNvSpPr/>
          <p:nvPr/>
        </p:nvSpPr>
        <p:spPr>
          <a:xfrm>
            <a:off x="4389120" y="3200400"/>
            <a:ext cx="365760" cy="1828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451860" y="333756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Fundadores + Gestor de Obra + Consultor Estratégico, suportados por 4 departamentos e rede de 72 parceiros.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057900" y="2331720"/>
            <a:ext cx="269748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057900" y="2331720"/>
            <a:ext cx="269748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240780" y="260604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D0D0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Metodologia Padrão</a:t>
            </a:r>
            <a:endParaRPr lang="en-US" sz="1700" dirty="0"/>
          </a:p>
        </p:txBody>
      </p:sp>
      <p:sp>
        <p:nvSpPr>
          <p:cNvPr id="27" name="Shape 24"/>
          <p:cNvSpPr/>
          <p:nvPr/>
        </p:nvSpPr>
        <p:spPr>
          <a:xfrm>
            <a:off x="7223760" y="3200400"/>
            <a:ext cx="365760" cy="1828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286500" y="333756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Cada passo é executado com SOPs digitalizados. Decisões baseadas em dados e simulações. Nada ao acaso.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457200" y="4526280"/>
            <a:ext cx="8229600" cy="411480"/>
          </a:xfrm>
          <a:prstGeom prst="rect">
            <a:avLst/>
          </a:prstGeom>
          <a:solidFill>
            <a:srgbClr val="F5EFE0"/>
          </a:solidFill>
          <a:ln w="9525">
            <a:solidFill>
              <a:srgbClr val="C9A84C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57200" y="45262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D0D0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+72 parceiros activos     |     SOPs digitalizados     |     100% rastreabilidade     |     Co-investimento próprio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lexandremendes/Desktop/Somnium Properties/SomniumProperties-Dashboard/public/logo-dark-transpare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274320"/>
            <a:ext cx="960120" cy="38404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28600" y="228600"/>
            <a:ext cx="457200" cy="1371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228600" y="228600"/>
            <a:ext cx="13716" cy="4572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458200" y="228600"/>
            <a:ext cx="457200" cy="1371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901684" y="228600"/>
            <a:ext cx="13716" cy="4572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28600" y="4901184"/>
            <a:ext cx="457200" cy="1371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28600" y="4457700"/>
            <a:ext cx="13716" cy="4572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58200" y="4901184"/>
            <a:ext cx="457200" cy="1371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901684" y="4457700"/>
            <a:ext cx="13716" cy="4572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C9A84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PILAR I — SEGURANÇA E RIGOR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57200" y="11430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D0D0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SOPs e a Ciência da Compra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88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Procedimentos padrão e validação matemática antes de cada aquisição.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457200" y="2331720"/>
            <a:ext cx="40233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57200" y="2331720"/>
            <a:ext cx="54864" cy="22860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85800" y="2514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8A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Biblioteca SOP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85800" y="2788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0D0D0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Cada operação tem um procedimento padrão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31520" y="3273552"/>
            <a:ext cx="109728" cy="109728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14400" y="32004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SOP 1 — Pesquisa de Negócios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31520" y="3566160"/>
            <a:ext cx="109728" cy="109728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14400" y="34930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SOP 2 — Onboarding de Investidores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31520" y="3858768"/>
            <a:ext cx="109728" cy="109728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4400" y="378561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SOP 3 — Prospeção de Projetos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31520" y="4151376"/>
            <a:ext cx="109728" cy="109728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14400" y="407822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SOP 4 — Compra e Negociação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754880" y="2331720"/>
            <a:ext cx="39319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754880" y="2331720"/>
            <a:ext cx="54864" cy="22860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983480" y="25146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8A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SOP 4: Ciência da Compra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4983480" y="2788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0D0D0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 identificação ao MAO validado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5029200" y="320040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0D0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1. Validação Cruzada Múltipla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5166360" y="3447288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Mínimo 5 comparáveis cruzados com ferramentas, parceiros e avaliadores.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5029200" y="370332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0D0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2. Ajuste Matemático</a:t>
            </a:r>
            <a:endParaRPr lang="en-US" sz="1150" dirty="0"/>
          </a:p>
        </p:txBody>
      </p:sp>
      <p:sp>
        <p:nvSpPr>
          <p:cNvPr id="33" name="Text 30"/>
          <p:cNvSpPr/>
          <p:nvPr/>
        </p:nvSpPr>
        <p:spPr>
          <a:xfrm>
            <a:off x="5166360" y="3950208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Áreas, localização (±10%), idade e conservação.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5029200" y="420624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0D0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3. MAO Validado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5166360" y="4453128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Maximum Allowable Offer aprovada para execução.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57200" y="4709160"/>
            <a:ext cx="8229600" cy="292608"/>
          </a:xfrm>
          <a:prstGeom prst="rect">
            <a:avLst/>
          </a:prstGeom>
          <a:solidFill>
            <a:srgbClr val="F5EFE0"/>
          </a:solidFill>
          <a:ln w="6350">
            <a:solidFill>
              <a:srgbClr val="C9A84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57200" y="47091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D0D0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Cada SOP está digitalizado e enforced pelo nosso CRM proprietário.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lexandremendes/Desktop/Somnium Properties/SomniumProperties-Dashboard/public/logo-dark-transpare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274320"/>
            <a:ext cx="960120" cy="38404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28600" y="228600"/>
            <a:ext cx="457200" cy="1371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228600" y="228600"/>
            <a:ext cx="13716" cy="4572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458200" y="228600"/>
            <a:ext cx="457200" cy="1371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901684" y="228600"/>
            <a:ext cx="13716" cy="4572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28600" y="4901184"/>
            <a:ext cx="457200" cy="1371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28600" y="4457700"/>
            <a:ext cx="13716" cy="4572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58200" y="4901184"/>
            <a:ext cx="457200" cy="1371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901684" y="4457700"/>
            <a:ext cx="13716" cy="4572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C9A84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PILAR I — SEGURANÇA E RIGOR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57200" y="11430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D0D0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Nossa Obsessão com o Risco: Stress Tests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88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Cada projeto passa por três cenários antes de avançar.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480060" y="2331720"/>
            <a:ext cx="26060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80060" y="2331720"/>
            <a:ext cx="2606040" cy="1097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80060" y="25603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6A3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0%</a:t>
            </a:r>
            <a:endParaRPr lang="en-US" sz="3800" dirty="0"/>
          </a:p>
        </p:txBody>
      </p:sp>
      <p:sp>
        <p:nvSpPr>
          <p:cNvPr id="17" name="Text 14"/>
          <p:cNvSpPr/>
          <p:nvPr/>
        </p:nvSpPr>
        <p:spPr>
          <a:xfrm>
            <a:off x="617220" y="32461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0D0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Cenário Base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62940" y="353872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 plano ideal e conservador.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3268980" y="2331720"/>
            <a:ext cx="26060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268980" y="2331720"/>
            <a:ext cx="2606040" cy="109728"/>
          </a:xfrm>
          <a:prstGeom prst="rect">
            <a:avLst/>
          </a:prstGeom>
          <a:solidFill>
            <a:srgbClr val="CA8A04"/>
          </a:solidFill>
          <a:ln w="12700">
            <a:solidFill>
              <a:srgbClr val="CA8A0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268980" y="25603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A8A0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-10%</a:t>
            </a:r>
            <a:endParaRPr lang="en-US" sz="3800" dirty="0"/>
          </a:p>
        </p:txBody>
      </p:sp>
      <p:sp>
        <p:nvSpPr>
          <p:cNvPr id="22" name="Text 19"/>
          <p:cNvSpPr/>
          <p:nvPr/>
        </p:nvSpPr>
        <p:spPr>
          <a:xfrm>
            <a:off x="3406140" y="32461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0D0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Stress Moderado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3451860" y="353872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-10% VVR  /  +10% Custo Obra  /  +3 meses retenção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057900" y="2331720"/>
            <a:ext cx="26060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057900" y="2331720"/>
            <a:ext cx="2606040" cy="1097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057900" y="25603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DC26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-20%</a:t>
            </a:r>
            <a:endParaRPr lang="en-US" sz="3800" dirty="0"/>
          </a:p>
        </p:txBody>
      </p:sp>
      <p:sp>
        <p:nvSpPr>
          <p:cNvPr id="27" name="Text 24"/>
          <p:cNvSpPr/>
          <p:nvPr/>
        </p:nvSpPr>
        <p:spPr>
          <a:xfrm>
            <a:off x="6195060" y="32461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0D0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Stress Severo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6240780" y="353872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-20% VVR  /  +20% Custo Obra  /  +6 meses retenção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57200" y="4160520"/>
            <a:ext cx="8229600" cy="777240"/>
          </a:xfrm>
          <a:prstGeom prst="rect">
            <a:avLst/>
          </a:prstGeom>
          <a:solidFill>
            <a:srgbClr val="FAF5E8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57200" y="4233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A88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Regras do Flipper Disciplinado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640080" y="45262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1. Sempre 10–20% de contingência de obras.    2. Nunca avançar se só rentável no Cenário Base.    3. Tem de poder converter em arrendamento.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lexandremendes/Desktop/Somnium Properties/SomniumProperties-Dashboard/public/logo-dark-transpare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274320"/>
            <a:ext cx="960120" cy="38404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28600" y="228600"/>
            <a:ext cx="457200" cy="1371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228600" y="228600"/>
            <a:ext cx="13716" cy="4572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458200" y="228600"/>
            <a:ext cx="457200" cy="1371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901684" y="228600"/>
            <a:ext cx="13716" cy="4572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28600" y="4901184"/>
            <a:ext cx="457200" cy="1371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28600" y="4457700"/>
            <a:ext cx="13716" cy="4572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58200" y="4901184"/>
            <a:ext cx="457200" cy="1371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901684" y="4457700"/>
            <a:ext cx="13716" cy="4572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C9A84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PILAR II — RENTABILIDADE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57200" y="11430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D0D0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Venda Cirúrgica e Plano B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88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protegemos o ROI quando o mercado não coopera.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457200" y="2331720"/>
            <a:ext cx="420624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57200" y="2331720"/>
            <a:ext cx="54864" cy="246888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85800" y="25146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8A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Tática de Venda Cirúrgica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85800" y="27889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0D0D0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Plano estratégico em 3 fases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31520" y="3200400"/>
            <a:ext cx="365760" cy="365760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31520" y="3200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0D0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234440" y="318211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0D0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Preparação Premium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34440" y="34290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Home Staging, fotografia profissional, tour 3D/360º.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0D0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234440" y="368503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0D0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Exclusividade Pensada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34440" y="39319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Atribuição ao consultor de referência durante obra + pós-conclusão.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731520" y="4206240"/>
            <a:ext cx="365760" cy="365760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31520" y="4206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0D0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1234440" y="418795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0D0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Acelerador de Venda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1234440" y="44348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Após 60 dias, ativação de Top Performer da zona.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937760" y="2331720"/>
            <a:ext cx="374904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937760" y="2331720"/>
            <a:ext cx="54864" cy="2468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166360" y="25146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Plano B: Rede de Segurança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5166360" y="27889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0D0D0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Linha Vermelha Somnium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5212080" y="3200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84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✓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5532120" y="318211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0D0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Limite de Corte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5532120" y="34290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VVR mínimo aceitável baseado no Stress Severo (-20%).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5212080" y="3703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84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✓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5532120" y="368503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0D0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Suspensão Automática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5532120" y="393192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 a venda fura o ROI mínimo, paramos a venda.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5212080" y="4206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84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✓</a:t>
            </a:r>
            <a:endParaRPr lang="en-US" sz="1400" dirty="0"/>
          </a:p>
        </p:txBody>
      </p:sp>
      <p:sp>
        <p:nvSpPr>
          <p:cNvPr id="41" name="Text 38"/>
          <p:cNvSpPr/>
          <p:nvPr/>
        </p:nvSpPr>
        <p:spPr>
          <a:xfrm>
            <a:off x="5532120" y="418795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0D0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Pivot para Arrendamento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5532120" y="443484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Conversão imediata para arrendamento (validado à priori).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457200" y="486460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Nunca aceitamos um ROI abaixo do nosso mínimo. Se o mercado fechar a porta da venda, abrimos a do arrendamento.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lexandremendes/Desktop/Somnium Properties/SomniumProperties-Dashboard/public/logo-dark-transpare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274320"/>
            <a:ext cx="960120" cy="38404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28600" y="228600"/>
            <a:ext cx="457200" cy="1371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228600" y="228600"/>
            <a:ext cx="13716" cy="4572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458200" y="228600"/>
            <a:ext cx="457200" cy="1371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901684" y="228600"/>
            <a:ext cx="13716" cy="4572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28600" y="4901184"/>
            <a:ext cx="457200" cy="1371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28600" y="4457700"/>
            <a:ext cx="13716" cy="4572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58200" y="4901184"/>
            <a:ext cx="457200" cy="1371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901684" y="4457700"/>
            <a:ext cx="13716" cy="4572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C9A84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NOSSA INFRAESTRUTURA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57200" y="11430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D0D0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Tecnologia Proprietária ao Serviço do Rigor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88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Onde o rigor clínico encontra a segurança digital.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388620" y="2331720"/>
            <a:ext cx="269748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8620" y="2331720"/>
            <a:ext cx="2697480" cy="54864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71500" y="249631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A88A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SISTEMA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571500" y="27432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0D0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CRM Proprietário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571500" y="3200400"/>
            <a:ext cx="320040" cy="1828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89788" y="3401568"/>
            <a:ext cx="64008" cy="64008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17804" y="3337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Imóveis, investidores, consultores, negócios e despesas num só sistema.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89788" y="3785616"/>
            <a:ext cx="64008" cy="64008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17804" y="372160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 Excel partilhado. Sem ficheiros dispersos.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89788" y="4169664"/>
            <a:ext cx="64008" cy="64008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17804" y="410565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Cada decisão registada, atribuída e datada.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3223260" y="2331720"/>
            <a:ext cx="269748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223260" y="2331720"/>
            <a:ext cx="2697480" cy="54864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406140" y="249631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A88A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OPERAÇÃO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406140" y="27432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0D0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Dashboard Operacional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3406140" y="3200400"/>
            <a:ext cx="320040" cy="1828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424428" y="3401568"/>
            <a:ext cx="64008" cy="64008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52444" y="3337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OKRs, tarefas, alertas e KPIs em tempo real.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3424428" y="3785616"/>
            <a:ext cx="64008" cy="64008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3552444" y="372160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Relatórios e PDFs gerados automaticamente.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3424428" y="4169664"/>
            <a:ext cx="64008" cy="64008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3552444" y="410565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Integração com Drive, Notion e contabilidade.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6057900" y="2331720"/>
            <a:ext cx="269748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057900" y="2331720"/>
            <a:ext cx="269748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240780" y="249631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A88A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 QUE GANHA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6240780" y="27432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0D0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Si, o Investidor</a:t>
            </a:r>
            <a:endParaRPr lang="en-US" sz="1700" dirty="0"/>
          </a:p>
        </p:txBody>
      </p:sp>
      <p:sp>
        <p:nvSpPr>
          <p:cNvPr id="40" name="Shape 37"/>
          <p:cNvSpPr/>
          <p:nvPr/>
        </p:nvSpPr>
        <p:spPr>
          <a:xfrm>
            <a:off x="6240780" y="3200400"/>
            <a:ext cx="320040" cy="1828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259068" y="3401568"/>
            <a:ext cx="64008" cy="64008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387084" y="3337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Zero erro humano na gestão administrativa.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6259068" y="3785616"/>
            <a:ext cx="64008" cy="64008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6387084" y="372160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Acesso ao seu projeto sem depender de pessoas.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6259068" y="4169664"/>
            <a:ext cx="64008" cy="64008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6387084" y="410565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Rastreabilidade total: do contacto à venda final.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457200" y="4709160"/>
            <a:ext cx="8229600" cy="29260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457200" y="47091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spc="100" kern="0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 ficheiros perdidos. Zero esquecimentos. Zero improviso.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lexandremendes/Desktop/Somnium Properties/SomniumProperties-Dashboard/public/logo-dark-transpare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274320"/>
            <a:ext cx="960120" cy="38404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28600" y="228600"/>
            <a:ext cx="457200" cy="1371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228600" y="228600"/>
            <a:ext cx="13716" cy="4572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458200" y="228600"/>
            <a:ext cx="457200" cy="1371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901684" y="228600"/>
            <a:ext cx="13716" cy="4572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28600" y="4901184"/>
            <a:ext cx="457200" cy="1371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28600" y="4457700"/>
            <a:ext cx="13716" cy="4572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58200" y="4901184"/>
            <a:ext cx="457200" cy="1371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901684" y="4457700"/>
            <a:ext cx="13716" cy="4572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C9A84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PILAR III — TRANSPARÊNCIA TOTAL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57200" y="11430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D0D0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Mãos-Livres: O Que Vê e Recebe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88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sua janela em tempo real para o projeto, sem dependência de pessoas.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388620" y="2331720"/>
            <a:ext cx="269748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8620" y="2331720"/>
            <a:ext cx="269748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71500" y="2514600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5600" dirty="0"/>
          </a:p>
        </p:txBody>
      </p:sp>
      <p:sp>
        <p:nvSpPr>
          <p:cNvPr id="17" name="Text 14"/>
          <p:cNvSpPr/>
          <p:nvPr/>
        </p:nvSpPr>
        <p:spPr>
          <a:xfrm>
            <a:off x="571500" y="33375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0D0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Auditoria em Tempo Real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571500" y="3840480"/>
            <a:ext cx="320040" cy="1828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71500" y="3959352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Acesso vitalício a pasta cifrada. Faturas, contabilidade e documentos legais visíveis 24/7.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3223260" y="2331720"/>
            <a:ext cx="269748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223260" y="2331720"/>
            <a:ext cx="269748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406140" y="2514600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5600" dirty="0"/>
          </a:p>
        </p:txBody>
      </p:sp>
      <p:sp>
        <p:nvSpPr>
          <p:cNvPr id="23" name="Text 20"/>
          <p:cNvSpPr/>
          <p:nvPr/>
        </p:nvSpPr>
        <p:spPr>
          <a:xfrm>
            <a:off x="3406140" y="33375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0D0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Comunicação Sem Ruído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3406140" y="3840480"/>
            <a:ext cx="320040" cy="1828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406140" y="3959352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Canal dedicado em exclusivo ao seu negócio. Atualizações diárias da equipa de liderança. Sem e-mails perdidos.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057900" y="2331720"/>
            <a:ext cx="269748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057900" y="2331720"/>
            <a:ext cx="269748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240780" y="2514600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5600" dirty="0"/>
          </a:p>
        </p:txBody>
      </p:sp>
      <p:sp>
        <p:nvSpPr>
          <p:cNvPr id="29" name="Text 26"/>
          <p:cNvSpPr/>
          <p:nvPr/>
        </p:nvSpPr>
        <p:spPr>
          <a:xfrm>
            <a:off x="6240780" y="33375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0D0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Relatórios Visuais de Obra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6240780" y="3840480"/>
            <a:ext cx="320040" cy="1828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240780" y="3959352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Carregamento semanal de fotografias e vídeos em alta resolução. Acompanhe ao milímetro, sem visitar o estaleiro.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457200" y="47091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A88A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Tudo isto corre sobre o nosso CRM proprietário — não é promessa, é tecnologia.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lexandremendes/Desktop/Somnium Properties/SomniumProperties-Dashboard/public/logo-dark-transpare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274320"/>
            <a:ext cx="960120" cy="38404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28600" y="228600"/>
            <a:ext cx="457200" cy="1371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228600" y="228600"/>
            <a:ext cx="13716" cy="4572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458200" y="228600"/>
            <a:ext cx="457200" cy="1371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901684" y="228600"/>
            <a:ext cx="13716" cy="4572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28600" y="4901184"/>
            <a:ext cx="457200" cy="1371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28600" y="4457700"/>
            <a:ext cx="13716" cy="4572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58200" y="4901184"/>
            <a:ext cx="457200" cy="1371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901684" y="4457700"/>
            <a:ext cx="13716" cy="4572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C9A84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ALINHAMENTO DE INTERESSES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57200" y="11430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D0D0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Co-Investimento: 60% / 40%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88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Investimos sempre o nosso próprio capital antes de o convidar a entrar.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731520" y="2331720"/>
            <a:ext cx="3657600" cy="1828800"/>
          </a:xfrm>
          <a:prstGeom prst="rect">
            <a:avLst/>
          </a:prstGeom>
          <a:solidFill>
            <a:srgbClr val="FFFFFF"/>
          </a:solidFill>
          <a:ln w="25400">
            <a:solidFill>
              <a:srgbClr val="C9A84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31520" y="2331720"/>
            <a:ext cx="3657600" cy="7315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1520" y="251460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</a:t>
            </a:r>
            <a:endParaRPr lang="en-US" sz="7200" dirty="0"/>
          </a:p>
        </p:txBody>
      </p:sp>
      <p:sp>
        <p:nvSpPr>
          <p:cNvPr id="17" name="Text 14"/>
          <p:cNvSpPr/>
          <p:nvPr/>
        </p:nvSpPr>
        <p:spPr>
          <a:xfrm>
            <a:off x="731520" y="3429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Investidor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731520" y="377647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A88A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Alocação de Capital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754880" y="2331720"/>
            <a:ext cx="3657600" cy="1828800"/>
          </a:xfrm>
          <a:prstGeom prst="rect">
            <a:avLst/>
          </a:prstGeom>
          <a:solidFill>
            <a:srgbClr val="FFFFFF"/>
          </a:solidFill>
          <a:ln w="25400">
            <a:solidFill>
              <a:srgbClr val="C9A84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754880" y="2331720"/>
            <a:ext cx="3657600" cy="73152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754880" y="251460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0D0D0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40%</a:t>
            </a:r>
            <a:endParaRPr lang="en-US" sz="7200" dirty="0"/>
          </a:p>
        </p:txBody>
      </p:sp>
      <p:sp>
        <p:nvSpPr>
          <p:cNvPr id="22" name="Text 19"/>
          <p:cNvSpPr/>
          <p:nvPr/>
        </p:nvSpPr>
        <p:spPr>
          <a:xfrm>
            <a:off x="4754880" y="3429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Somnium Properties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4754880" y="377647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A88A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Gestão Operacional, Execução, Risco Técnico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4434840"/>
            <a:ext cx="8229600" cy="594360"/>
          </a:xfrm>
          <a:prstGeom prst="rect">
            <a:avLst/>
          </a:prstGeom>
          <a:solidFill>
            <a:srgbClr val="F5EFE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A88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Sinal de Confiança Absoluta: Co-Investimento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640080" y="47274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Somnium investe o seu próprio capital nos projetos que estrutura. Apenas abrimos espaço a parceiros após a nossa própria validação financeira.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228600"/>
            <a:ext cx="457200" cy="1371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28600" y="228600"/>
            <a:ext cx="13716" cy="4572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58200" y="228600"/>
            <a:ext cx="457200" cy="1371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01684" y="228600"/>
            <a:ext cx="13716" cy="4572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4901184"/>
            <a:ext cx="457200" cy="1371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" y="4457700"/>
            <a:ext cx="13716" cy="4572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58200" y="4901184"/>
            <a:ext cx="457200" cy="1371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01684" y="4457700"/>
            <a:ext cx="13716" cy="4572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10" name="Image 0" descr="/Users/alexandremendes/Desktop/Somnium Properties/SomniumProperties-Dashboard/public/logo-dark-transpare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794760" y="640080"/>
            <a:ext cx="1554480" cy="62179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457200" y="18288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D0D0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Construa um Portfólio</a:t>
            </a:r>
            <a:endParaRPr lang="en-US" sz="3800" dirty="0"/>
          </a:p>
        </p:txBody>
      </p:sp>
      <p:sp>
        <p:nvSpPr>
          <p:cNvPr id="12" name="Text 9"/>
          <p:cNvSpPr/>
          <p:nvPr/>
        </p:nvSpPr>
        <p:spPr>
          <a:xfrm>
            <a:off x="457200" y="2468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i="1" dirty="0">
                <a:solidFill>
                  <a:srgbClr val="A88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Sem Dores de Cabeça.</a:t>
            </a:r>
            <a:endParaRPr lang="en-US" sz="3800" dirty="0"/>
          </a:p>
        </p:txBody>
      </p:sp>
      <p:sp>
        <p:nvSpPr>
          <p:cNvPr id="13" name="Shape 10"/>
          <p:cNvSpPr/>
          <p:nvPr/>
        </p:nvSpPr>
        <p:spPr>
          <a:xfrm>
            <a:off x="4023360" y="3246120"/>
            <a:ext cx="1097280" cy="228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57200" y="33832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F293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Junte-se ao nosso grupo restrito de investidores passivos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1F293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 deixe o rigor clínico proteger o seu capital.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371600" y="4160520"/>
            <a:ext cx="6400800" cy="411480"/>
          </a:xfrm>
          <a:prstGeom prst="rect">
            <a:avLst/>
          </a:prstGeom>
          <a:solidFill>
            <a:srgbClr val="F5EFE0"/>
          </a:solidFill>
          <a:ln w="9525">
            <a:solidFill>
              <a:srgbClr val="C9A84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371600" y="41605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D0D0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72 parceiros activos     ·     Co-investimento próprio     ·     Zero improviso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1371600" y="4754880"/>
            <a:ext cx="6400800" cy="13716"/>
          </a:xfrm>
          <a:prstGeom prst="rect">
            <a:avLst/>
          </a:prstGeom>
          <a:solidFill>
            <a:srgbClr val="A88A3A"/>
          </a:solidFill>
          <a:ln w="12700">
            <a:solidFill>
              <a:srgbClr val="A88A3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" y="48188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A88A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Alexandre Mendes &amp; João Abreu    ·    geral@somniumproperties.pt    ·    www.somniumproperties.pt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Somnium Properties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Investimento e Gestao de Ativos - Investidores Marco 2026</dc:title>
  <dc:subject>PptxGenJS Presentation</dc:subject>
  <dc:creator>Somnium Properties</dc:creator>
  <cp:lastModifiedBy>Somnium Properties</cp:lastModifiedBy>
  <cp:revision>1</cp:revision>
  <dcterms:created xsi:type="dcterms:W3CDTF">2026-05-08T12:47:03Z</dcterms:created>
  <dcterms:modified xsi:type="dcterms:W3CDTF">2026-05-08T12:47:03Z</dcterms:modified>
</cp:coreProperties>
</file>