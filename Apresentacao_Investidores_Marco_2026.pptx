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0" name="Image 0" descr="/Users/alexandremendes/Desktop/Somnium Properties/SomniumProperties-Dashboard/public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548640"/>
            <a:ext cx="182880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 e Gestão de Ativos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 Clínico, Transparência Total e Rentabilidade.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886200" y="3337560"/>
            <a:ext cx="137160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abordagem de 'Zero Improviso' ao investimento imobiliário.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Preparado para Investidores Privados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valor não está apenas no ativo.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 na execução.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57200" y="3246120"/>
            <a:ext cx="5486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imobiliário continua a ser uma das formas mais consistentes de criação de património. No entanto, o que separa um investimento excecional de um projeto medíocre não é apenas a compra do imóvel. É a capacidade de identificar assimetrias de mercado e executar o processo sem falhas.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dark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Assimetria do Risco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Desafios do Investimento Individual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14400" y="1920240"/>
            <a:ext cx="3840480" cy="4572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Investidor Solitário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37760" y="1920240"/>
            <a:ext cx="384048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Parceria Somnium Properties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4320" y="24688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8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Fator Tempo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2468880"/>
            <a:ext cx="3840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2468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Consumo extremo de tempo em prospeção, negociação e gestão de obras.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37760" y="2468880"/>
            <a:ext cx="3840480" cy="777240"/>
          </a:xfrm>
          <a:prstGeom prst="rect">
            <a:avLst/>
          </a:prstGeom>
          <a:solidFill>
            <a:srgbClr val="F2EDE0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2468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Alocação de capital passiva. Esforço nulo ('Mãos-Livres').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" y="33375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8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Fator Risco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14400" y="3337560"/>
            <a:ext cx="3840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3337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Decisões frequentemente emocionais e derrapagens financeiras não calculadas.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937760" y="3337560"/>
            <a:ext cx="3840480" cy="777240"/>
          </a:xfrm>
          <a:prstGeom prst="rect">
            <a:avLst/>
          </a:prstGeom>
          <a:solidFill>
            <a:srgbClr val="F2EDE0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74920" y="3337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Decisões blindadas por Matemática Pura (MAO) e matrizes de Stress Tests.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420624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8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Rede &amp; Execução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14400" y="4206240"/>
            <a:ext cx="3840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51560" y="4206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Dependência de empreiteiros incertos e falta de poder negocial.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937760" y="4206240"/>
            <a:ext cx="3840480" cy="777240"/>
          </a:xfrm>
          <a:prstGeom prst="rect">
            <a:avLst/>
          </a:prstGeom>
          <a:solidFill>
            <a:srgbClr val="F2EDE0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74920" y="4206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Ecossistema integrado: equipa clínica, gestores de obra e rede de 72 parceiros.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dark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Filosofia "Zero Improviso"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5486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1828800"/>
            <a:ext cx="3840480" cy="2743200"/>
          </a:xfrm>
          <a:prstGeom prst="rect">
            <a:avLst/>
          </a:prstGeom>
          <a:solidFill>
            <a:srgbClr val="0D0D0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Origem Clínica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· ·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5720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Saúde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720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5720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Imobiliário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720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Rigor + Disciplina + Protocolo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1874520"/>
            <a:ext cx="274320" cy="2743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8348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Origem Clínica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8348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Fundada por profissionais com background na área da Saúde.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0" y="2834640"/>
            <a:ext cx="274320" cy="2743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Paralelismo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83480" y="3154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Transpomos a cultura vital de protocolos rigorosos, registo meticuloso e atenção ao detalhe da Saúde para a gestão de ativos.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0" y="3794760"/>
            <a:ext cx="274320" cy="2743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Resultado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983480" y="4114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passo do investimento é dado com uma metodologia padrão. Todas as decisões são baseadas em dados e simulações. Nada é deixado ao acaso.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dark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Nosso ADN e Estrutura Institucional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20040" y="1737360"/>
            <a:ext cx="2743200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173736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Alexandre Mendes &amp; João Abreu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Fundadores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Gestão clínica do investimento.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0" y="1737360"/>
            <a:ext cx="2743200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173736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3756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Luís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3756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Gestor de Obra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33756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"Know how" sobre construção civil, licenciamento urbanístico e projetos.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80760" y="1737360"/>
            <a:ext cx="2743200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80760" y="173736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João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1792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Consultor Estratégico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1792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Portfólio internacional e visão macro de mercado.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62856" y="2834640"/>
            <a:ext cx="1828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5488" y="310896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5488" y="3108960"/>
            <a:ext cx="1965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2648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Administração &amp; Financeiro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12648" y="3886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Controlo de capital e faturas.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51176" y="310896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51176" y="3108960"/>
            <a:ext cx="1965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88336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Departamento Comercial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688336" y="3886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Gestão do pipeline e rede de 72 parceiros.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626864" y="310896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26864" y="3108960"/>
            <a:ext cx="1965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64024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Departamento de Obra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764024" y="3886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Liderança técnica e execução.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702552" y="310896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702552" y="3108960"/>
            <a:ext cx="1965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39712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Formação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839712" y="3886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Atualização de SOPs e análise de mercado.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dark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I: SEGURANÇA &amp; RIGOR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Motor da Segurança: Procedimentos Operacionais Padrão (SOPs)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57200" y="2103120"/>
            <a:ext cx="4206240" cy="2377440"/>
          </a:xfrm>
          <a:prstGeom prst="rect">
            <a:avLst/>
          </a:prstGeom>
          <a:solidFill>
            <a:srgbClr val="0D0D0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Biblioteca SOP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606040"/>
            <a:ext cx="45720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solidFill>
            <a:srgbClr val="1A1A1A"/>
          </a:solidFill>
          <a:ln w="6350">
            <a:solidFill>
              <a:srgbClr val="A88A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1:  Pesquisa de Negócios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3218688"/>
            <a:ext cx="3657600" cy="320040"/>
          </a:xfrm>
          <a:prstGeom prst="rect">
            <a:avLst/>
          </a:prstGeom>
          <a:solidFill>
            <a:srgbClr val="1A1A1A"/>
          </a:solidFill>
          <a:ln w="6350">
            <a:solidFill>
              <a:srgbClr val="A88A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2:  Onboarding Investidores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3602736"/>
            <a:ext cx="3657600" cy="320040"/>
          </a:xfrm>
          <a:prstGeom prst="rect">
            <a:avLst/>
          </a:prstGeom>
          <a:solidFill>
            <a:srgbClr val="1A1A1A"/>
          </a:solidFill>
          <a:ln w="6350">
            <a:solidFill>
              <a:srgbClr val="A88A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3602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3:  Prospeção de Projetos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3986784"/>
            <a:ext cx="3657600" cy="320040"/>
          </a:xfrm>
          <a:prstGeom prst="rect">
            <a:avLst/>
          </a:prstGeom>
          <a:solidFill>
            <a:srgbClr val="1A1A1A"/>
          </a:solidFill>
          <a:ln w="6350">
            <a:solidFill>
              <a:srgbClr val="A88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39867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4:  Compra e Negociação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937760" y="2103120"/>
            <a:ext cx="54864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Metodologia Aprovada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2064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operação obedece a um SOP específico (da prospeção à venda).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937760" y="2926080"/>
            <a:ext cx="54864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206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Auditoria Contínua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120640" y="3246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Processos revistos e otimizados a cada projeto ou nova variável de mercado.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937760" y="3749040"/>
            <a:ext cx="54864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2064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Rastreabilidade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120640" y="4069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Garantia de qualidade e minimização absoluta do erro humano.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dark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I: SEGURANÇA &amp; RIGOR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Ciência da Compra (SOP 4)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1600200" y="1920240"/>
            <a:ext cx="5943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00200" y="2011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8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Validação Cruzada Múltipla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74520" y="23317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Identificação de mínimo 5 comparáveis. Cruzamento de dados com ferramentas especializadas, parceiros locais e avaliadores.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94560" y="2926080"/>
            <a:ext cx="47548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9456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8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Ajuste Matemático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468880" y="3337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Ajustes automáticos baseados em áreas, localização (±10%), idade e conservação.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0" y="3886200"/>
            <a:ext cx="3657600" cy="640080"/>
          </a:xfrm>
          <a:prstGeom prst="rect">
            <a:avLst/>
          </a:prstGeom>
          <a:solidFill>
            <a:srgbClr val="C9A84C"/>
          </a:solidFill>
          <a:ln w="19050">
            <a:solidFill>
              <a:srgbClr val="A88A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MAO Validado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017520" y="42976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Maximum Allowable Offer aprovada para execução.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dark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I: SEGURANÇA &amp; RIGOR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Nossa Obsessão com o Risco: Stress Tests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80060" y="182880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" y="1828800"/>
            <a:ext cx="2606040" cy="137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" y="2103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1722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Cenário Base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2940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plano ideal e conservador de rentabilidade.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8980" y="182880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68980" y="1828800"/>
            <a:ext cx="2606040" cy="13716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68980" y="2103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8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-10%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340614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Test Moderado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451860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-10% VVR  |  +10% Custo Obra  |  +3 Meses Retenção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57900" y="182880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57900" y="1828800"/>
            <a:ext cx="260604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57900" y="2103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-20%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619506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Test Severo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40780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-20% VVR  |  +20% Custo Obra  |  +6 Meses Retenção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Regras do Flipper Disciplinado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8640" y="42702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Incorporar sempre 10 a 20% de contingência de obras no cálculo inicial.    2. Nunca avançar para um negócio que só é rentável no Cenário Base.    3. O projeto tem de poder ser convertido em arrendamento viável.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dark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II: RENTABILIDADE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Tática de Venda Cirúrgica: Plano Estratégico de Venda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80060" y="192024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" y="192024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" y="2148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0" dirty="0"/>
          </a:p>
        </p:txBody>
      </p:sp>
      <p:sp>
        <p:nvSpPr>
          <p:cNvPr id="16" name="Text 13"/>
          <p:cNvSpPr/>
          <p:nvPr/>
        </p:nvSpPr>
        <p:spPr>
          <a:xfrm>
            <a:off x="61722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8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Fase 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722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Preparação Premium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294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Home Staging, Sessões fotográficas profissionais, Tours 3D/360º e levantamento de plantas rigorosas.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04388" y="30632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3268980" y="192024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68980" y="192024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68980" y="2148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0" dirty="0"/>
          </a:p>
        </p:txBody>
      </p:sp>
      <p:sp>
        <p:nvSpPr>
          <p:cNvPr id="23" name="Text 20"/>
          <p:cNvSpPr/>
          <p:nvPr/>
        </p:nvSpPr>
        <p:spPr>
          <a:xfrm>
            <a:off x="340614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8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Fase 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0614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Exclusividade Pensada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45186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Atribuição do ativo ao consultor que trouxe o negócio em caso de referência durante fase de obra + 15 dias a 1 mês após conclusão.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93308" y="30632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6057900" y="192024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57900" y="192024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57900" y="2148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0" dirty="0"/>
          </a:p>
        </p:txBody>
      </p:sp>
      <p:sp>
        <p:nvSpPr>
          <p:cNvPr id="30" name="Text 27"/>
          <p:cNvSpPr/>
          <p:nvPr/>
        </p:nvSpPr>
        <p:spPr>
          <a:xfrm>
            <a:off x="619506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8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Fase 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9506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Acelerador de Venda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24078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Após 60 dias (limite do Stress Test retenção +6 meses): Ativação de Top Performer da zona para escoar imóvel do mercado.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dark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II: RENTABILIDADE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Plano B: A Rede de Segurança Absoluta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48640" y="192024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/ Preço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Tempo →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05840" y="2286000"/>
            <a:ext cx="0" cy="20116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4297680"/>
            <a:ext cx="34747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5840" y="3611880"/>
            <a:ext cx="347472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3246120" y="3355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Limite de Corte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46120" y="35570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(Linha Vermelha)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 flipV="1">
            <a:off x="1097280" y="2377440"/>
            <a:ext cx="3291840" cy="1737360"/>
          </a:xfrm>
          <a:prstGeom prst="line">
            <a:avLst/>
          </a:prstGeom>
          <a:noFill/>
          <a:ln w="31750">
            <a:solidFill>
              <a:srgbClr val="0D0D0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031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Zona de Venda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8872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88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Pivot para Arrendamento (Plano B)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3776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2578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Limite de Corte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25780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Registamos o VVR mínimo aceitável baseado no teste de stress severo (-20%).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93776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2578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Linha Vermelha Somnium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257800" y="3200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 para efetuar a venda for necessário furar o chão do nosso ROI mínimo exigido, o procedimento de venda é automaticamente suspenso.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937760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2578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Conversão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257800" y="4160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Executamos o pivot imediato do ativo para o mercado de Arrendamento (validado à priori).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dark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III: TRANSPARÊNCIA TOTAL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Ecossistema de Investimento "Mãos-Livres"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80060" y="192024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" y="192024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16" name="Text 13"/>
          <p:cNvSpPr/>
          <p:nvPr/>
        </p:nvSpPr>
        <p:spPr>
          <a:xfrm>
            <a:off x="662940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Auditoria em Tempo Real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62940" y="3703320"/>
            <a:ext cx="36576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" y="3794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 vitalício a pasta cifrada. Visualização imediata de faturas, contabilidade e documentos legais.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68980" y="192024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68980" y="192024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186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22" name="Text 19"/>
          <p:cNvSpPr/>
          <p:nvPr/>
        </p:nvSpPr>
        <p:spPr>
          <a:xfrm>
            <a:off x="3451860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Comunicação Sem Ruído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451860" y="3703320"/>
            <a:ext cx="36576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1860" y="3794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Canal dedicado em exclusivo ao seu negócio. Atualizações diárias diretas com a equipa de liderança. Sem e-mails perdidos.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57900" y="192024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57900" y="192024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4078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28" name="Text 25"/>
          <p:cNvSpPr/>
          <p:nvPr/>
        </p:nvSpPr>
        <p:spPr>
          <a:xfrm>
            <a:off x="6240780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Relatórios Visuais de Obra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40780" y="3703320"/>
            <a:ext cx="36576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40780" y="3794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Carregamento semanal de fotografias e vídeos em alta resolução. Acompanhe a evolução ao milímetro, sem visitar o estaleiro.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Alinhamento Total de Interesses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4023360" y="1554480"/>
            <a:ext cx="10972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1920240"/>
            <a:ext cx="3657600" cy="16916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057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6400" dirty="0"/>
          </a:p>
        </p:txBody>
      </p:sp>
      <p:sp>
        <p:nvSpPr>
          <p:cNvPr id="15" name="Text 12"/>
          <p:cNvSpPr/>
          <p:nvPr/>
        </p:nvSpPr>
        <p:spPr>
          <a:xfrm>
            <a:off x="7315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Investidor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152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(Alocação de Capital)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1920240"/>
            <a:ext cx="3657600" cy="16916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2057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6400" dirty="0"/>
          </a:p>
        </p:txBody>
      </p:sp>
      <p:sp>
        <p:nvSpPr>
          <p:cNvPr id="19" name="Text 16"/>
          <p:cNvSpPr/>
          <p:nvPr/>
        </p:nvSpPr>
        <p:spPr>
          <a:xfrm>
            <a:off x="47548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Somnium Properties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75488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(Gestão Operacional, Execução, Risco Técnico)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840480"/>
            <a:ext cx="8046720" cy="960120"/>
          </a:xfrm>
          <a:prstGeom prst="rect">
            <a:avLst/>
          </a:prstGeom>
          <a:solidFill>
            <a:srgbClr val="26262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Sinal de Confiança Absoluta: Co-Investimento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Somnium Properties investe o seu próprio capital nos projetos que estrutura. Apenas abrimos espaço a parceiros após a nossa própria validação financeira.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remendes/Desktop/Somnium Properties/SomniumProperties-Dashboard/public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00584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Oportunidade Somnium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80060" y="2103120"/>
            <a:ext cx="2606040" cy="2606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" y="2286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61722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722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(Zero Improviso)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600200" y="3977640"/>
            <a:ext cx="36576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Matemática pura na compra (MAO validado) e matrizes de Stress Test severo em todos os ativos.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68980" y="2103120"/>
            <a:ext cx="2606040" cy="2606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68980" y="2286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7200" dirty="0"/>
          </a:p>
        </p:txBody>
      </p:sp>
      <p:sp>
        <p:nvSpPr>
          <p:cNvPr id="21" name="Text 18"/>
          <p:cNvSpPr/>
          <p:nvPr/>
        </p:nvSpPr>
        <p:spPr>
          <a:xfrm>
            <a:off x="340614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Rentabilidade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40614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Otimizada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89120" y="3977640"/>
            <a:ext cx="36576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1860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Proteção do ROI com estratégias de saída táticas pré-definidas (SOP 10).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57900" y="2103120"/>
            <a:ext cx="2606040" cy="2606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57900" y="2286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200" dirty="0"/>
          </a:p>
        </p:txBody>
      </p:sp>
      <p:sp>
        <p:nvSpPr>
          <p:cNvPr id="27" name="Text 24"/>
          <p:cNvSpPr/>
          <p:nvPr/>
        </p:nvSpPr>
        <p:spPr>
          <a:xfrm>
            <a:off x="619506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Transparência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19506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178040" y="3977640"/>
            <a:ext cx="36576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40780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 total aos números e ao terreno de forma digital e assíncrona. Controle absoluto, esforço nulo.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228600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01684" y="2286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01184"/>
            <a:ext cx="457200" cy="137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01684" y="4457700"/>
            <a:ext cx="1371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0" name="Image 0" descr="/Users/alexandremendes/Desktop/Somnium Properties/SomniumProperties-Dashboard/public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0" y="502920"/>
            <a:ext cx="1463040" cy="5852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Construa um Portfólio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Dores de Cabeça.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4023360" y="3108960"/>
            <a:ext cx="10972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Junte-se ao nosso grupo restrito de investidores passivos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 deixe o rigor clínico proteger o seu capital.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371600" y="4434840"/>
            <a:ext cx="6400800" cy="13716"/>
          </a:xfrm>
          <a:prstGeom prst="rect">
            <a:avLst/>
          </a:prstGeom>
          <a:solidFill>
            <a:srgbClr val="A88A3A"/>
          </a:solidFill>
          <a:ln w="12700">
            <a:solidFill>
              <a:srgbClr val="A88A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Alexandre Mendes &amp; João Abreu    •    geral@somniumproperties.pt    •    www.somniumproperties.pt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Somnium Properties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Investimento e Gestao de Ativos - Investidores Marco 2026</dc:title>
  <dc:subject>PptxGenJS Presentation</dc:subject>
  <dc:creator>Somnium Properties</dc:creator>
  <cp:lastModifiedBy>Somnium Properties</cp:lastModifiedBy>
  <cp:revision>1</cp:revision>
  <dcterms:created xsi:type="dcterms:W3CDTF">2026-05-08T12:37:39Z</dcterms:created>
  <dcterms:modified xsi:type="dcterms:W3CDTF">2026-05-08T12:37:39Z</dcterms:modified>
</cp:coreProperties>
</file>