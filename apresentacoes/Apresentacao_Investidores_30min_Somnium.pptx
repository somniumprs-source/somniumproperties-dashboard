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48" y="1314420"/>
            <a:ext cx="4572000" cy="185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38648" y="3577620"/>
            <a:ext cx="9144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8062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Investimento e Gestão de Ativos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45377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 CLÍNICO  ·  TRANSPARÊNCIA TOTAL  ·  RENTABILIDADE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9492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abordagem de 'Zero Improviso' ao investimento imobiliário.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621792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635508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Investidores Privados  ·  Coimbra  ·  Portugal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Documento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valor não está apenas no ativo. Está na execução.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Investir sozinho expõe a três assimetrias de mercado: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194560"/>
            <a:ext cx="3576218" cy="33832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9549" y="2651760"/>
            <a:ext cx="822960" cy="8229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1879549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77240" y="37490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Tempo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062429" y="42062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389120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Prospeção, negociação e gestão de obras consomem semanas inteiras.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07738" y="2194560"/>
            <a:ext cx="3576218" cy="33832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84368" y="2651760"/>
            <a:ext cx="822960" cy="8229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568436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4582058" y="37490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Risco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867248" y="42062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4673498" y="4389120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Decisões emocionais e derrapagens financeiras não calculadas.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12557" y="2194560"/>
            <a:ext cx="3576218" cy="33832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89186" y="2651760"/>
            <a:ext cx="822960" cy="8229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9489186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8386877" y="37490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Execução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9672066" y="42062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6"/>
          <p:cNvSpPr/>
          <p:nvPr/>
        </p:nvSpPr>
        <p:spPr>
          <a:xfrm>
            <a:off x="8478317" y="4389120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Empreiteiros incertos, sem rede e sem poder negocial.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A Somnium Properties resolve esta assimetria com método.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QUEM SOMOS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Filosofia Zero Improviso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Aplicamos ao imobiliário a disciplina, ética e rigor da área da Saúde — onde o erro não é uma opção.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2606040"/>
            <a:ext cx="45720" cy="1066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Origem Clínica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3017520"/>
            <a:ext cx="52120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Fundadores com background em Saúde aplicam protocolos rigorosos a cada operação.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901440"/>
            <a:ext cx="45720" cy="1066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01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Dados sobre Instinto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4312920"/>
            <a:ext cx="52120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decisão sustentada por análise quantitativa, simulação e testes de stress.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5196840"/>
            <a:ext cx="45720" cy="1066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196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Rede Validada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5608320"/>
            <a:ext cx="52120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Equipa técnica + 72 parceiros operacionais já testados em projetos reais.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46520" y="2606040"/>
            <a:ext cx="5242255" cy="3657600"/>
          </a:xfrm>
          <a:prstGeom prst="rect">
            <a:avLst/>
          </a:prstGeom>
          <a:solidFill>
            <a:srgbClr val="1A1A1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2606040"/>
            <a:ext cx="5242255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6720840" y="283464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20840" y="324612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2"/>
          <p:cNvSpPr/>
          <p:nvPr/>
        </p:nvSpPr>
        <p:spPr>
          <a:xfrm>
            <a:off x="6720840" y="333756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&amp; João Abreu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20840" y="365760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Fundadores  ·  Gestão clínica do investimento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720840" y="411480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420624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Luís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20840" y="452628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Gestor de Obra  ·  Construção, licenciamento, projeto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20840" y="498348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8"/>
          <p:cNvSpPr/>
          <p:nvPr/>
        </p:nvSpPr>
        <p:spPr>
          <a:xfrm>
            <a:off x="6720840" y="507492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João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20840" y="539496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Consultor Estratégico  ·  Visão macro de mercado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Ciência da Compra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91640"/>
            <a:ext cx="54557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502920" y="2761488"/>
            <a:ext cx="5455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SOPS DOCUMENTADOS EM USO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33008" y="1691640"/>
            <a:ext cx="54557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5+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6233008" y="2761488"/>
            <a:ext cx="5455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COMPARÁVEIS MÍNIMOS POR ANÁLISE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566160"/>
            <a:ext cx="11185855" cy="12801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3566160"/>
            <a:ext cx="11185855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7947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 =  (VVR  ×  0,64  a  0,70)  −  Custo de Obra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02920" y="44074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Maximum Allowable Offer  ·  Nunca compramos acima da linha de segurança 64–70% do VVR.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5074920"/>
            <a:ext cx="45720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" y="507492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Validação Cruzada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7512" y="544068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Mínimo 5 comparáveis cruzados com avaliadores e parceiros locais.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92498" y="5074920"/>
            <a:ext cx="45720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4457090" y="507492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Matemático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457090" y="544068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Correções automáticas por área, localização, idade e conservação.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82077" y="5074920"/>
            <a:ext cx="45720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8246669" y="507492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Linha de Segurança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46669" y="544068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Margem clínica preservada antes de qualquer proposta.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Nossa Obsessão com o Risco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operação é simulada em três cenários antes de avançar: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3594506" cy="2743200"/>
          </a:xfrm>
          <a:prstGeom prst="rect">
            <a:avLst/>
          </a:prstGeom>
          <a:solidFill>
            <a:srgbClr val="1A1A1A"/>
          </a:solidFill>
          <a:ln w="15240">
            <a:solidFill>
              <a:srgbClr val="2D6A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057400"/>
            <a:ext cx="3594506" cy="365760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2057400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CENÁRIO BASE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2606040"/>
            <a:ext cx="35945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5600" dirty="0"/>
          </a:p>
        </p:txBody>
      </p:sp>
      <p:sp>
        <p:nvSpPr>
          <p:cNvPr id="17" name="Text 14"/>
          <p:cNvSpPr/>
          <p:nvPr/>
        </p:nvSpPr>
        <p:spPr>
          <a:xfrm>
            <a:off x="502920" y="3429000"/>
            <a:ext cx="3594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ideal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025853" y="3749040"/>
            <a:ext cx="548640" cy="7315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886200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Conservador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" y="4251960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buffer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98594" y="2057400"/>
            <a:ext cx="3594506" cy="2743200"/>
          </a:xfrm>
          <a:prstGeom prst="rect">
            <a:avLst/>
          </a:prstGeom>
          <a:solidFill>
            <a:srgbClr val="1A1A1A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8594" y="2057400"/>
            <a:ext cx="3594506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4481474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7234" y="2057400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MODERADO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298594" y="2606040"/>
            <a:ext cx="35945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−10%</a:t>
            </a:r>
            <a:endParaRPr lang="en-US" sz="5600" dirty="0"/>
          </a:p>
        </p:txBody>
      </p:sp>
      <p:sp>
        <p:nvSpPr>
          <p:cNvPr id="26" name="Text 23"/>
          <p:cNvSpPr/>
          <p:nvPr/>
        </p:nvSpPr>
        <p:spPr>
          <a:xfrm>
            <a:off x="4298594" y="3429000"/>
            <a:ext cx="3594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VVR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21528" y="3749040"/>
            <a:ext cx="548640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5"/>
          <p:cNvSpPr/>
          <p:nvPr/>
        </p:nvSpPr>
        <p:spPr>
          <a:xfrm>
            <a:off x="4481474" y="3886200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+10% Custo Obra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481474" y="4251960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 meses retenção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94269" y="2057400"/>
            <a:ext cx="3594506" cy="2743200"/>
          </a:xfrm>
          <a:prstGeom prst="rect">
            <a:avLst/>
          </a:prstGeom>
          <a:solidFill>
            <a:srgbClr val="1A1A1A"/>
          </a:solidFill>
          <a:ln w="15240">
            <a:solidFill>
              <a:srgbClr val="8B202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94269" y="2057400"/>
            <a:ext cx="3594506" cy="3657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2" name="Text 29"/>
          <p:cNvSpPr/>
          <p:nvPr/>
        </p:nvSpPr>
        <p:spPr>
          <a:xfrm>
            <a:off x="8277149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42909" y="2057400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SEVERO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94269" y="2606040"/>
            <a:ext cx="35945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20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−20%</a:t>
            </a:r>
            <a:endParaRPr lang="en-US" sz="5600" dirty="0"/>
          </a:p>
        </p:txBody>
      </p:sp>
      <p:sp>
        <p:nvSpPr>
          <p:cNvPr id="35" name="Text 32"/>
          <p:cNvSpPr/>
          <p:nvPr/>
        </p:nvSpPr>
        <p:spPr>
          <a:xfrm>
            <a:off x="8094269" y="3429000"/>
            <a:ext cx="3594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VVR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617202" y="3749040"/>
            <a:ext cx="548640" cy="7315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7" name="Text 34"/>
          <p:cNvSpPr/>
          <p:nvPr/>
        </p:nvSpPr>
        <p:spPr>
          <a:xfrm>
            <a:off x="8277149" y="3886200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+20% Custo Obra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77149" y="4251960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+6 meses retenção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02920" y="5120640"/>
            <a:ext cx="45720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" y="512064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Regra de ouro  ·  Nenhum negócio avança se só for rentável no Cenário Base.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  ·  RENTABILIDADE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Tática de Venda Cirúrgica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691640"/>
            <a:ext cx="3594506" cy="24688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1645920" y="2057400"/>
            <a:ext cx="2314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0–30 DIAS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45920" y="2286000"/>
            <a:ext cx="2314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Preparação Premium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288036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63240"/>
            <a:ext cx="31373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 staging, fotografia profissional, tour 360°. Posicionamento 2–4% acima do VVR.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8594" y="1691640"/>
            <a:ext cx="3594506" cy="24688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7194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5600" dirty="0"/>
          </a:p>
        </p:txBody>
      </p:sp>
      <p:sp>
        <p:nvSpPr>
          <p:cNvPr id="19" name="Text 16"/>
          <p:cNvSpPr/>
          <p:nvPr/>
        </p:nvSpPr>
        <p:spPr>
          <a:xfrm>
            <a:off x="5441594" y="2057400"/>
            <a:ext cx="2314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31–60 DIAS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41594" y="2286000"/>
            <a:ext cx="2314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Tático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27194" y="288036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4527194" y="3063240"/>
            <a:ext cx="31373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Aproximação ao Stress Moderado com ajustes táticos conforme procura.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94269" y="1691640"/>
            <a:ext cx="3594506" cy="246888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2869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5600" dirty="0"/>
          </a:p>
        </p:txBody>
      </p:sp>
      <p:sp>
        <p:nvSpPr>
          <p:cNvPr id="25" name="Text 22"/>
          <p:cNvSpPr/>
          <p:nvPr/>
        </p:nvSpPr>
        <p:spPr>
          <a:xfrm>
            <a:off x="9237269" y="2057400"/>
            <a:ext cx="2314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61+ DIAS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237269" y="2286000"/>
            <a:ext cx="2314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Acelerador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22869" y="288036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5"/>
          <p:cNvSpPr/>
          <p:nvPr/>
        </p:nvSpPr>
        <p:spPr>
          <a:xfrm>
            <a:off x="8322869" y="3063240"/>
            <a:ext cx="31373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performer da rede + cláusula de redução máxima sem comprometer ROI mínimo.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4480560"/>
            <a:ext cx="11185855" cy="16916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0" name="Shape 27"/>
          <p:cNvSpPr/>
          <p:nvPr/>
        </p:nvSpPr>
        <p:spPr>
          <a:xfrm>
            <a:off x="502920" y="4480560"/>
            <a:ext cx="11185855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8"/>
          <p:cNvSpPr/>
          <p:nvPr/>
        </p:nvSpPr>
        <p:spPr>
          <a:xfrm>
            <a:off x="868680" y="470916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B  ·  A REDE DE SEGURANÇA ABSOLUTA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68680" y="507492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 o preço passar a Linha Vermelha (Stress Severo), a venda é automaticamente suspensa e o ativo pivota para arrendamento — modelo validado a priori. O ROI mínimo é sempre protegido.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III  ·  TRANSPARÊNCIA TOTAL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Ecossistema 'Mãos-Livres'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total. Esforço nulo.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2194560"/>
            <a:ext cx="3576218" cy="3383280"/>
          </a:xfrm>
          <a:prstGeom prst="rect">
            <a:avLst/>
          </a:prstGeom>
          <a:solidFill>
            <a:srgbClr val="1A1A1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46888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4400" dirty="0"/>
          </a:p>
        </p:txBody>
      </p:sp>
      <p:sp>
        <p:nvSpPr>
          <p:cNvPr id="14" name="Shape 11"/>
          <p:cNvSpPr/>
          <p:nvPr/>
        </p:nvSpPr>
        <p:spPr>
          <a:xfrm>
            <a:off x="777240" y="315468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33756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Auditoria em Tempo Real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7240" y="411480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Pasta cifrada com faturas, contabilidade e documentos legais — acesso vitalício.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07738" y="2194560"/>
            <a:ext cx="3576218" cy="3383280"/>
          </a:xfrm>
          <a:prstGeom prst="rect">
            <a:avLst/>
          </a:prstGeom>
          <a:solidFill>
            <a:srgbClr val="1A1A1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82058" y="246888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4400" dirty="0"/>
          </a:p>
        </p:txBody>
      </p:sp>
      <p:sp>
        <p:nvSpPr>
          <p:cNvPr id="19" name="Shape 16"/>
          <p:cNvSpPr/>
          <p:nvPr/>
        </p:nvSpPr>
        <p:spPr>
          <a:xfrm>
            <a:off x="4582058" y="315468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4582058" y="333756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Comunicação Sem Ruído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82058" y="411480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Canal dedicado ao seu negócio. Atualizações diárias diretas com a liderança.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12557" y="2194560"/>
            <a:ext cx="3576218" cy="3383280"/>
          </a:xfrm>
          <a:prstGeom prst="rect">
            <a:avLst/>
          </a:prstGeom>
          <a:solidFill>
            <a:srgbClr val="1A1A1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86877" y="246888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4400" dirty="0"/>
          </a:p>
        </p:txBody>
      </p:sp>
      <p:sp>
        <p:nvSpPr>
          <p:cNvPr id="24" name="Shape 21"/>
          <p:cNvSpPr/>
          <p:nvPr/>
        </p:nvSpPr>
        <p:spPr>
          <a:xfrm>
            <a:off x="8386877" y="315468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2"/>
          <p:cNvSpPr/>
          <p:nvPr/>
        </p:nvSpPr>
        <p:spPr>
          <a:xfrm>
            <a:off x="8386877" y="333756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Relatórios Visuais de Obra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386877" y="411480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Fotografias e vídeos semanais em alta resolução. Acompanhe sem visitar o estaleiro.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ALINHAMENTO DE INTERESSES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 Investidor  ·  50% Somnium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691640"/>
            <a:ext cx="5455768" cy="23774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691640"/>
            <a:ext cx="545576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057400"/>
            <a:ext cx="5455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8800" dirty="0"/>
          </a:p>
        </p:txBody>
      </p:sp>
      <p:sp>
        <p:nvSpPr>
          <p:cNvPr id="14" name="Text 11"/>
          <p:cNvSpPr/>
          <p:nvPr/>
        </p:nvSpPr>
        <p:spPr>
          <a:xfrm>
            <a:off x="777240" y="32004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Investidor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7240" y="361188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Alocação de Capital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33008" y="1691640"/>
            <a:ext cx="5455768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33008" y="1691640"/>
            <a:ext cx="545576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6233008" y="2057400"/>
            <a:ext cx="5455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8800" dirty="0"/>
          </a:p>
        </p:txBody>
      </p:sp>
      <p:sp>
        <p:nvSpPr>
          <p:cNvPr id="19" name="Text 16"/>
          <p:cNvSpPr/>
          <p:nvPr/>
        </p:nvSpPr>
        <p:spPr>
          <a:xfrm>
            <a:off x="6507328" y="32004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Somnium Properties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07328" y="361188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Operacional, Execução, Risco Técnico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480560"/>
            <a:ext cx="11185855" cy="1554480"/>
          </a:xfrm>
          <a:prstGeom prst="rect">
            <a:avLst/>
          </a:prstGeom>
          <a:solidFill>
            <a:srgbClr val="F5F3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4480560"/>
            <a:ext cx="54864" cy="1554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709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Co-investimento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Somnium investe sempre o seu próprio capital nos projetos que estrutura. Só abrimos espaço a parceiros depois da nossa própria validação financeira.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9357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RESUMO EXECUTIVO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774375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Oportunidade Somnium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737360"/>
            <a:ext cx="3576218" cy="4206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737360"/>
            <a:ext cx="357621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194560"/>
            <a:ext cx="35762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0" dirty="0"/>
          </a:p>
        </p:txBody>
      </p:sp>
      <p:sp>
        <p:nvSpPr>
          <p:cNvPr id="14" name="Text 11"/>
          <p:cNvSpPr/>
          <p:nvPr/>
        </p:nvSpPr>
        <p:spPr>
          <a:xfrm>
            <a:off x="502920" y="384048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Segurança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02920" y="434340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IMPROVISO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62429" y="46634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846320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validado e Stress Tests severos antes de cada decisão.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07738" y="1737360"/>
            <a:ext cx="3576218" cy="4206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9" name="Shape 16"/>
          <p:cNvSpPr/>
          <p:nvPr/>
        </p:nvSpPr>
        <p:spPr>
          <a:xfrm>
            <a:off x="4307738" y="1737360"/>
            <a:ext cx="357621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4307738" y="2194560"/>
            <a:ext cx="35762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0" dirty="0"/>
          </a:p>
        </p:txBody>
      </p:sp>
      <p:sp>
        <p:nvSpPr>
          <p:cNvPr id="21" name="Text 18"/>
          <p:cNvSpPr/>
          <p:nvPr/>
        </p:nvSpPr>
        <p:spPr>
          <a:xfrm>
            <a:off x="4307738" y="384048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Rentabilidade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307738" y="434340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OTIMIZADA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67248" y="46634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4673498" y="4846320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Saída tática pré-definida (SOP 10) com Plano B de arrendamento.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12557" y="1737360"/>
            <a:ext cx="3576218" cy="4206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6" name="Shape 23"/>
          <p:cNvSpPr/>
          <p:nvPr/>
        </p:nvSpPr>
        <p:spPr>
          <a:xfrm>
            <a:off x="8112557" y="1737360"/>
            <a:ext cx="357621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8112557" y="2194560"/>
            <a:ext cx="35762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0" dirty="0"/>
          </a:p>
        </p:txBody>
      </p:sp>
      <p:sp>
        <p:nvSpPr>
          <p:cNvPr id="28" name="Text 25"/>
          <p:cNvSpPr/>
          <p:nvPr/>
        </p:nvSpPr>
        <p:spPr>
          <a:xfrm>
            <a:off x="8112557" y="384048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Transparência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112557" y="434340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INSTITUCIONAL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672066" y="46634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8"/>
          <p:cNvSpPr/>
          <p:nvPr/>
        </p:nvSpPr>
        <p:spPr>
          <a:xfrm>
            <a:off x="8478317" y="4846320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digital total — controlo absoluto, esforço nulo.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8" y="914400"/>
            <a:ext cx="3200400" cy="12962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38648" y="2622084"/>
            <a:ext cx="9144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2896404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Construa um Portfólio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Dores de Cabeça.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874520" y="4496604"/>
            <a:ext cx="8442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0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Junte-se ao grupo restrito de investidores passivos e deixe o rigor clínico proteger o seu capital.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88920" y="5319564"/>
            <a:ext cx="6613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5502444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geral@somniumproperties.pt</a:t>
            </a:r>
            <a:pPr algn="ctr" indent="0" marL="0">
              <a:buNone/>
            </a:pPr>
            <a:r>
              <a:rPr lang="en-US" sz="130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 ·       </a:t>
            </a:r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www.somniumproperties.pt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58682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 ·  João Abreu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A8F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Documento Confidencial · Somnium Properties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Somnium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 Investidores — 2026</dc:title>
  <dc:subject>PptxGenJS Presentation</dc:subject>
  <dc:creator>Somnium Properties</dc:creator>
  <cp:lastModifiedBy>Somnium Properties</cp:lastModifiedBy>
  <cp:revision>1</cp:revision>
  <dcterms:created xsi:type="dcterms:W3CDTF">2026-05-07T17:02:58Z</dcterms:created>
  <dcterms:modified xsi:type="dcterms:W3CDTF">2026-05-07T17:02:58Z</dcterms:modified>
</cp:coreProperties>
</file>