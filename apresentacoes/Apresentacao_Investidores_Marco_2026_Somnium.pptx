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9848" y="1076676"/>
            <a:ext cx="4572000" cy="185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1800" y="3294156"/>
            <a:ext cx="768096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365077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Investimento e Gestão de Ativos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02920" y="43365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RIGOR CLÍNICO  ·  TRANSPARÊNCIA TOTAL  ·  RENTABILIDADE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4702332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Uma abordagem de 'Zero Improviso' ao investimento imobiliário · Coimbra · Portugal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74520" y="5159532"/>
            <a:ext cx="8442655" cy="640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5296692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Preparado para Investidores Privados  ·  Marco 2026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355080"/>
            <a:ext cx="11185855" cy="640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6446520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Somnium Properties · Investimento Imobiliário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2920" y="6611112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Documento Confidencial · Marco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291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APRESENTAÇÃO A INVESTIDORES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640080"/>
            <a:ext cx="11185855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6355080"/>
            <a:ext cx="11185855" cy="640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Marco 2026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valor não está apenas no ativo. Está na execução.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11185855" cy="420624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1737360"/>
            <a:ext cx="54864" cy="4206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05740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nossa tese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68680" y="2423160"/>
            <a:ext cx="1045433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imobiliário continua a ser uma das formas mais consistentes de criação de património.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entanto, o que separa um investimento excepcional de um projeto medíocre não é apenas a compra do imóvel. </a:t>
            </a:r>
            <a:pPr indent="0" marL="0"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É a capacidade de identificar assimetrias de mercado e executar o processo sem falhas.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Este documento apresenta o nosso modelo: uma abordagem industrial, auditável e replicável que transforma a aleatoriedade do mercado num processo controlado.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291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APRESENTAÇÃO A INVESTIDORES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640080"/>
            <a:ext cx="11185855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6355080"/>
            <a:ext cx="11185855" cy="640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Marco 2026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Assimetria do Risco: Desafios do Investimento Individual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874520"/>
            <a:ext cx="4815688" cy="384048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1" name="Text 8"/>
          <p:cNvSpPr/>
          <p:nvPr/>
        </p:nvSpPr>
        <p:spPr>
          <a:xfrm>
            <a:off x="2057400" y="1874520"/>
            <a:ext cx="481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Investidor Solitário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73088" y="1874520"/>
            <a:ext cx="4815688" cy="384048"/>
          </a:xfrm>
          <a:prstGeom prst="rect">
            <a:avLst/>
          </a:prstGeom>
          <a:solidFill>
            <a:srgbClr val="2D6A2D"/>
          </a:solidFill>
          <a:ln/>
        </p:spPr>
      </p:sp>
      <p:sp>
        <p:nvSpPr>
          <p:cNvPr id="13" name="Text 10"/>
          <p:cNvSpPr/>
          <p:nvPr/>
        </p:nvSpPr>
        <p:spPr>
          <a:xfrm>
            <a:off x="6873088" y="1874520"/>
            <a:ext cx="481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Parceria Somnium Properties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2258568"/>
            <a:ext cx="1554480" cy="107899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258568"/>
            <a:ext cx="1280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Fator Tempo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057400" y="2258568"/>
            <a:ext cx="4815688" cy="1078992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94560" y="2350008"/>
            <a:ext cx="4541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Consumo extremo de tempo em prospeção, negociação e gestão de obras.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73088" y="2258568"/>
            <a:ext cx="4815688" cy="1078992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10248" y="2350008"/>
            <a:ext cx="4541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Alocação de capital passiva. Esforço nulo ('Mãos-Livres').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3337560"/>
            <a:ext cx="1554480" cy="107899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337560"/>
            <a:ext cx="1280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Fator Risco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057400" y="3337560"/>
            <a:ext cx="4815688" cy="1078992"/>
          </a:xfrm>
          <a:prstGeom prst="rect">
            <a:avLst/>
          </a:prstGeom>
          <a:solidFill>
            <a:srgbClr val="F7F6F2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94560" y="3429000"/>
            <a:ext cx="4541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Decisões frequentemente emocionais e derrapagens financeiras não calculadas.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873088" y="3337560"/>
            <a:ext cx="4815688" cy="1078992"/>
          </a:xfrm>
          <a:prstGeom prst="rect">
            <a:avLst/>
          </a:prstGeom>
          <a:solidFill>
            <a:srgbClr val="F7F6F2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10248" y="3429000"/>
            <a:ext cx="4541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Decisões blindadas por Matemática Pura (MAO) e matrizes de Stress Tests.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" y="4416552"/>
            <a:ext cx="1554480" cy="107899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4416552"/>
            <a:ext cx="1280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Rede &amp; Execução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057400" y="4416552"/>
            <a:ext cx="4815688" cy="1078992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194560" y="4507992"/>
            <a:ext cx="4541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Dependência de empreiteiros incertos e falta de poder negocial.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873088" y="4416552"/>
            <a:ext cx="4815688" cy="1078992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10248" y="4507992"/>
            <a:ext cx="4541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Ecossistema integrado: equipa clínica, gestores de obra e rede de 72 parceiros.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291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APRESENTAÇÃO A INVESTIDORES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640080"/>
            <a:ext cx="11185855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6355080"/>
            <a:ext cx="11185855" cy="640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Marco 2026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Filosofia 'Zero Improviso'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3618890" cy="411480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1874520"/>
            <a:ext cx="361889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148840"/>
            <a:ext cx="30702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77240" y="278892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926080"/>
            <a:ext cx="3070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Origem Clínica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" y="3429000"/>
            <a:ext cx="307025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Fundada por profissionais com background na área da Saúde — onde o erro não é uma opção.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86402" y="1874520"/>
            <a:ext cx="3618890" cy="411480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86402" y="1874520"/>
            <a:ext cx="361889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4560722" y="2148840"/>
            <a:ext cx="30702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3600" dirty="0"/>
          </a:p>
        </p:txBody>
      </p:sp>
      <p:sp>
        <p:nvSpPr>
          <p:cNvPr id="19" name="Shape 16"/>
          <p:cNvSpPr/>
          <p:nvPr/>
        </p:nvSpPr>
        <p:spPr>
          <a:xfrm>
            <a:off x="4560722" y="278892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7"/>
          <p:cNvSpPr/>
          <p:nvPr/>
        </p:nvSpPr>
        <p:spPr>
          <a:xfrm>
            <a:off x="4560722" y="2926080"/>
            <a:ext cx="3070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Paralelismo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560722" y="3429000"/>
            <a:ext cx="307025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Transpomos a cultura vital de protocolos rigorosos, registo meticuloso e atenção ao detalhe da área da Saúde para a gestão de ativos.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69885" y="1874520"/>
            <a:ext cx="3618890" cy="411480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69885" y="1874520"/>
            <a:ext cx="361889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1"/>
          <p:cNvSpPr/>
          <p:nvPr/>
        </p:nvSpPr>
        <p:spPr>
          <a:xfrm>
            <a:off x="8344205" y="2148840"/>
            <a:ext cx="30702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3600" dirty="0"/>
          </a:p>
        </p:txBody>
      </p:sp>
      <p:sp>
        <p:nvSpPr>
          <p:cNvPr id="25" name="Shape 22"/>
          <p:cNvSpPr/>
          <p:nvPr/>
        </p:nvSpPr>
        <p:spPr>
          <a:xfrm>
            <a:off x="8344205" y="278892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3"/>
          <p:cNvSpPr/>
          <p:nvPr/>
        </p:nvSpPr>
        <p:spPr>
          <a:xfrm>
            <a:off x="8344205" y="2926080"/>
            <a:ext cx="3070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Resultado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344205" y="3429000"/>
            <a:ext cx="307025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 passo do investimento é dado com uma metodologia padrão. Todas as decisões são baseadas em dados e simulações. Nada é deixado ao acaso.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291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APRESENTAÇÃO A INVESTIDORES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640080"/>
            <a:ext cx="11185855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6355080"/>
            <a:ext cx="11185855" cy="640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Marco 2026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Nosso ADN e Estrutura Institucional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3618890" cy="164592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1" name="Shape 8"/>
          <p:cNvSpPr/>
          <p:nvPr/>
        </p:nvSpPr>
        <p:spPr>
          <a:xfrm>
            <a:off x="502920" y="1874520"/>
            <a:ext cx="361889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057400"/>
            <a:ext cx="325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Alexandre Mendes &amp; João Abreu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2514600"/>
            <a:ext cx="3253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Fundadores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31520" y="2834640"/>
            <a:ext cx="32531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3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Gestão clínica do investimento.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86402" y="1874520"/>
            <a:ext cx="3618890" cy="164592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6" name="Shape 13"/>
          <p:cNvSpPr/>
          <p:nvPr/>
        </p:nvSpPr>
        <p:spPr>
          <a:xfrm>
            <a:off x="4286402" y="1874520"/>
            <a:ext cx="361889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4"/>
          <p:cNvSpPr/>
          <p:nvPr/>
        </p:nvSpPr>
        <p:spPr>
          <a:xfrm>
            <a:off x="4515002" y="2057400"/>
            <a:ext cx="325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Luís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15002" y="2514600"/>
            <a:ext cx="3253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Gestor de Obra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15002" y="2834640"/>
            <a:ext cx="32531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3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Know-how sobre construção civil, licenciamento urbanístico e projetos.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69885" y="1874520"/>
            <a:ext cx="3618890" cy="164592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1" name="Shape 18"/>
          <p:cNvSpPr/>
          <p:nvPr/>
        </p:nvSpPr>
        <p:spPr>
          <a:xfrm>
            <a:off x="8069885" y="1874520"/>
            <a:ext cx="361889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8298485" y="2057400"/>
            <a:ext cx="325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João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298485" y="2514600"/>
            <a:ext cx="3253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Consultor Estratégico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98485" y="2834640"/>
            <a:ext cx="32531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3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Portfólio internacional e visão macro de mercado.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" y="3794760"/>
            <a:ext cx="2673020" cy="169164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2920" y="3794760"/>
            <a:ext cx="45720" cy="1691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4023360"/>
            <a:ext cx="2307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Administração &amp; Financeiro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31520" y="4709160"/>
            <a:ext cx="2307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Controlo de capital e faturas.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340532" y="3794760"/>
            <a:ext cx="2673020" cy="169164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340532" y="3794760"/>
            <a:ext cx="45720" cy="1691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1" name="Text 28"/>
          <p:cNvSpPr/>
          <p:nvPr/>
        </p:nvSpPr>
        <p:spPr>
          <a:xfrm>
            <a:off x="3569132" y="4023360"/>
            <a:ext cx="2307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Departamento Comercial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569132" y="4709160"/>
            <a:ext cx="2307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Gestão do pipeline e rede de 72 parceiros.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178144" y="3794760"/>
            <a:ext cx="2673020" cy="169164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78144" y="3794760"/>
            <a:ext cx="45720" cy="1691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5" name="Text 32"/>
          <p:cNvSpPr/>
          <p:nvPr/>
        </p:nvSpPr>
        <p:spPr>
          <a:xfrm>
            <a:off x="6406744" y="4023360"/>
            <a:ext cx="2307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Departamento de Obra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06744" y="4709160"/>
            <a:ext cx="2307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Liderança técnica e execução.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9015755" y="3794760"/>
            <a:ext cx="2673020" cy="169164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015755" y="3794760"/>
            <a:ext cx="45720" cy="1691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9" name="Text 36"/>
          <p:cNvSpPr/>
          <p:nvPr/>
        </p:nvSpPr>
        <p:spPr>
          <a:xfrm>
            <a:off x="9244355" y="4023360"/>
            <a:ext cx="2307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Formação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9244355" y="4709160"/>
            <a:ext cx="2307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Atualização de SOPs e análise de mercado.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291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  ·  SEGURANÇA &amp; RIGOR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640080"/>
            <a:ext cx="11185855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6355080"/>
            <a:ext cx="11185855" cy="640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Marco 2026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Motor da Segurança: Procedimentos Operacionais Padrão (SOPs)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5120640" cy="393192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Biblioteca de Procedimentos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nossa operação assenta numa biblioteca viva de procedimentos.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32461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SOP 1 — Pesquisa de Negócios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SOP 4 — Aquisição de Investidores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SOP 5 — Visita de Qualificação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SOP 6 — Garantia de Qualidade de Projetos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SOP 7 — Compra &amp; Investimento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52160" y="1874520"/>
            <a:ext cx="5836615" cy="121920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52160" y="1874520"/>
            <a:ext cx="45720" cy="1219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3"/>
          <p:cNvSpPr/>
          <p:nvPr/>
        </p:nvSpPr>
        <p:spPr>
          <a:xfrm>
            <a:off x="6080760" y="205740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Metodologia Aprovada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80760" y="2468880"/>
            <a:ext cx="547085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 operação obedece a um SOP específico (da prospeção à venda).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852160" y="3230880"/>
            <a:ext cx="5836615" cy="121920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52160" y="3230880"/>
            <a:ext cx="45720" cy="1219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7"/>
          <p:cNvSpPr/>
          <p:nvPr/>
        </p:nvSpPr>
        <p:spPr>
          <a:xfrm>
            <a:off x="6080760" y="341376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Auditoria Contínua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080760" y="3825240"/>
            <a:ext cx="547085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Processos revistos e otimizados a cada projeto na nova variável de mercado.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52160" y="4587240"/>
            <a:ext cx="5836615" cy="121920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52160" y="4587240"/>
            <a:ext cx="45720" cy="1219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1"/>
          <p:cNvSpPr/>
          <p:nvPr/>
        </p:nvSpPr>
        <p:spPr>
          <a:xfrm>
            <a:off x="6080760" y="477012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Rastreabilidade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080760" y="5181600"/>
            <a:ext cx="547085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Garantia de qualidade e minimização do erro humano.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291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  ·  SEGURANÇA &amp; RIGOR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640080"/>
            <a:ext cx="11185855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6355080"/>
            <a:ext cx="11185855" cy="640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Marco 2026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Ciência da Compra (SOP 4)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5501488" cy="182880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1874520"/>
            <a:ext cx="55014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14884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Validação Cruzada Múltipla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7240" y="2651760"/>
            <a:ext cx="495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Identificação de mínimo 5 comparáveis. Cruzamento de dados com ferramentas especializadas, parceiros locais e avaliadores.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87288" y="1874520"/>
            <a:ext cx="5501488" cy="182880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87288" y="1874520"/>
            <a:ext cx="55014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3"/>
          <p:cNvSpPr/>
          <p:nvPr/>
        </p:nvSpPr>
        <p:spPr>
          <a:xfrm>
            <a:off x="6461608" y="214884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Ajuste Matemático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61608" y="2651760"/>
            <a:ext cx="495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Ajustes automáticos baseados em áreas, localização (10%), idade e conservação.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3977640"/>
            <a:ext cx="11185855" cy="9144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9" name="Shape 16"/>
          <p:cNvSpPr/>
          <p:nvPr/>
        </p:nvSpPr>
        <p:spPr>
          <a:xfrm>
            <a:off x="502920" y="3977640"/>
            <a:ext cx="11185855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41422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MAO  =  (VVR  ×  0,64  a  0,70)  −  Custo de Obra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02920" y="46177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D3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MAO (Maximum Allowable Offer). Nunca compramos acima da linha de segurança dos 64–70% do Valor de Venda Real (VVR).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291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  ·  SEGURANÇA &amp; RIGOR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640080"/>
            <a:ext cx="11185855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6355080"/>
            <a:ext cx="11185855" cy="640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Marco 2026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Nossa Obsessão com o Risco: Stress Tests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3606698" cy="210312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1874520"/>
            <a:ext cx="3606698" cy="365760"/>
          </a:xfrm>
          <a:prstGeom prst="rect">
            <a:avLst/>
          </a:prstGeom>
          <a:solidFill>
            <a:srgbClr val="2D6A2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51560" y="18745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CENÁRIO BASE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" y="242316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plano ideal e conservador de rentabilidade.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92498" y="1874520"/>
            <a:ext cx="3606698" cy="210312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2498" y="1874520"/>
            <a:ext cx="3606698" cy="3657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4"/>
          <p:cNvSpPr/>
          <p:nvPr/>
        </p:nvSpPr>
        <p:spPr>
          <a:xfrm>
            <a:off x="4475378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41138" y="18745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STRESS TEST MODERADO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66818" y="242316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−10% VVR  ·  +10% Custo Obra  ·  +3 Meses Retenção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82077" y="1874520"/>
            <a:ext cx="3606698" cy="210312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82077" y="1874520"/>
            <a:ext cx="3606698" cy="3657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22" name="Text 19"/>
          <p:cNvSpPr/>
          <p:nvPr/>
        </p:nvSpPr>
        <p:spPr>
          <a:xfrm>
            <a:off x="8264957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630717" y="18745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STRESS TEST SEVERO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356397" y="242316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−20% VVR  ·  +20% Custo Obra  ·  +6 Meses Retenção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2920" y="4251960"/>
            <a:ext cx="11185855" cy="155448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6" name="Text 23"/>
          <p:cNvSpPr/>
          <p:nvPr/>
        </p:nvSpPr>
        <p:spPr>
          <a:xfrm>
            <a:off x="868680" y="443484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 REGRAS DO FLIPPER DISCIPLINADO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68680" y="475488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Incorporar sempre 10% a 20% de contingência de obra no cálculo inicial.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Nunca avançar para um negócio que só é rentável no Cenário Base.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projeto tem de poder ser convertido em arrendamento viável.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291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II  ·  RENTABILIDADE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640080"/>
            <a:ext cx="11185855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6355080"/>
            <a:ext cx="11185855" cy="640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Marco 2026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Tática de Venda Cirúrgica: Plano Estratégico de Venda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3618890" cy="411480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057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777240" y="2926080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Fase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3154680"/>
            <a:ext cx="30702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Preparação Premium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77240" y="3749040"/>
            <a:ext cx="36576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840480"/>
            <a:ext cx="3070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Home Staging, Sessões fotográficas profissionais, Tours 3D/360° e levantamento de plantas rigorosas.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" y="4892040"/>
            <a:ext cx="307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Janela 0–30 dias: Cenário Base posicionando com preço 2–4% acima do VVR.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86402" y="1874520"/>
            <a:ext cx="3618890" cy="411480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60722" y="2057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5600" dirty="0"/>
          </a:p>
        </p:txBody>
      </p:sp>
      <p:sp>
        <p:nvSpPr>
          <p:cNvPr id="19" name="Text 16"/>
          <p:cNvSpPr/>
          <p:nvPr/>
        </p:nvSpPr>
        <p:spPr>
          <a:xfrm>
            <a:off x="4560722" y="2926080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Fase 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60722" y="3154680"/>
            <a:ext cx="30702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Exclusividade Pensada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60722" y="3749040"/>
            <a:ext cx="36576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4560722" y="3840480"/>
            <a:ext cx="3070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Atribuição de dica ao consultor que truve o negócio em casa de obra +/−15 dias após o ajuste de mais conclusão.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60722" y="4892040"/>
            <a:ext cx="307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Janela 31–60 dias: Aproximação ao Stress Test +3 meses com ajustes táticos conforme procura.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069885" y="1874520"/>
            <a:ext cx="3618890" cy="411480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44205" y="2057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5600" dirty="0"/>
          </a:p>
        </p:txBody>
      </p:sp>
      <p:sp>
        <p:nvSpPr>
          <p:cNvPr id="26" name="Text 23"/>
          <p:cNvSpPr/>
          <p:nvPr/>
        </p:nvSpPr>
        <p:spPr>
          <a:xfrm>
            <a:off x="8344205" y="2926080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Fase 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344205" y="3154680"/>
            <a:ext cx="30702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Acelerador de Venda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344205" y="3749040"/>
            <a:ext cx="36576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6"/>
          <p:cNvSpPr/>
          <p:nvPr/>
        </p:nvSpPr>
        <p:spPr>
          <a:xfrm>
            <a:off x="8344205" y="3840480"/>
            <a:ext cx="3070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 caso de resistência (limite do Stress Test retenção +6 meses): Top Performer da rede acima já tem.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344205" y="4892040"/>
            <a:ext cx="307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Cláusula de redução máxima sem comprometer ROI mínimo.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291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II  ·  RENTABILIDADE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640080"/>
            <a:ext cx="11185855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6355080"/>
            <a:ext cx="11185855" cy="640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Marco 2026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Plano B: A Rede de Segurança Absoluta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5943600" cy="384048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" y="2240280"/>
            <a:ext cx="13716" cy="30175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2" name="Shape 9"/>
          <p:cNvSpPr/>
          <p:nvPr/>
        </p:nvSpPr>
        <p:spPr>
          <a:xfrm>
            <a:off x="1051560" y="5257800"/>
            <a:ext cx="502920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0574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ROI/Preço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15000" y="53949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143000" y="2514600"/>
            <a:ext cx="1828800" cy="640080"/>
          </a:xfrm>
          <a:prstGeom prst="line">
            <a:avLst/>
          </a:prstGeom>
          <a:noFill/>
          <a:ln w="25400">
            <a:solidFill>
              <a:srgbClr val="2D6A2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71800" y="3154680"/>
            <a:ext cx="1371600" cy="91440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43400" y="4069080"/>
            <a:ext cx="1371600" cy="914400"/>
          </a:xfrm>
          <a:prstGeom prst="line">
            <a:avLst/>
          </a:prstGeom>
          <a:noFill/>
          <a:ln w="25400">
            <a:solidFill>
              <a:srgbClr val="8B202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51560" y="4069080"/>
            <a:ext cx="5029200" cy="0"/>
          </a:xfrm>
          <a:prstGeom prst="line">
            <a:avLst/>
          </a:prstGeom>
          <a:noFill/>
          <a:ln w="12700">
            <a:solidFill>
              <a:srgbClr val="8B2020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141732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Zona de Venda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3840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20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Linha de Corte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92040" y="4069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(Linha Vermelha)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160520" y="4800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Pivot para Arrendamento (Plano B)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675120" y="1920240"/>
            <a:ext cx="5013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 O Limite de Corte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949440" y="2286000"/>
            <a:ext cx="4739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Registamos o VVR mínimo aceitável baseado no teste de stress severo (−20%).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675120" y="3200400"/>
            <a:ext cx="5013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 A Linha Vermelha Somnium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949440" y="3566160"/>
            <a:ext cx="4739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 for preciso furar o chão do nosso ROI mínimo exigido, o procedimento de venda é automaticamente suspenso.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675120" y="4480560"/>
            <a:ext cx="5013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 A Conversão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949440" y="4846320"/>
            <a:ext cx="4739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Executamos o pivot imediato do ativo para o mercado de Arrendamento (validado a priori).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291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III  ·  TRANSPARÊNCIA TOTAL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640080"/>
            <a:ext cx="11185855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6355080"/>
            <a:ext cx="11185855" cy="640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Marco 2026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Ecossistema de Investimento 'Mãos-Livres'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3618890" cy="393192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148840"/>
            <a:ext cx="30702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777240" y="278892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926080"/>
            <a:ext cx="30702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Auditoria em Tempo Real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" y="3566160"/>
            <a:ext cx="307025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Acesso vitalício a uma pasta cifrada. Visualização ilimitada de faturas, contabilidade e documentos legais.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86402" y="1874520"/>
            <a:ext cx="3618890" cy="393192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60722" y="2148840"/>
            <a:ext cx="30702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4560722" y="278892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4560722" y="2926080"/>
            <a:ext cx="30702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Comunicação Sem Ruído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60722" y="3566160"/>
            <a:ext cx="307025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Canal dedicado com exclusivo ao seu negócio. Atualizações diárias diretas com a equipa de liderança. Sem e-mails perdidos.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69885" y="1874520"/>
            <a:ext cx="3618890" cy="393192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44205" y="2148840"/>
            <a:ext cx="30702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3600" dirty="0"/>
          </a:p>
        </p:txBody>
      </p:sp>
      <p:sp>
        <p:nvSpPr>
          <p:cNvPr id="22" name="Shape 19"/>
          <p:cNvSpPr/>
          <p:nvPr/>
        </p:nvSpPr>
        <p:spPr>
          <a:xfrm>
            <a:off x="8344205" y="278892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0"/>
          <p:cNvSpPr/>
          <p:nvPr/>
        </p:nvSpPr>
        <p:spPr>
          <a:xfrm>
            <a:off x="8344205" y="2926080"/>
            <a:ext cx="30702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Relatórios Visuais de Obra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44205" y="3566160"/>
            <a:ext cx="307025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Carregamento semanal de fotografias e vídeos em alta resolução. Acompanhe a evolução ao milímetro, sem visitar o estaleiro.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291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ALINHAMENTO DE INTERESSES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640080"/>
            <a:ext cx="11185855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6355080"/>
            <a:ext cx="11185855" cy="640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Marco 2026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Alinhamento Total de Interesses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5501488" cy="182880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103120"/>
            <a:ext cx="495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50%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777240" y="2926080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Investidor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333756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(Alocação de Capital)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87288" y="1874520"/>
            <a:ext cx="5501488" cy="1828800"/>
          </a:xfrm>
          <a:prstGeom prst="rect">
            <a:avLst/>
          </a:prstGeom>
          <a:solidFill>
            <a:srgbClr val="0D0D0D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1608" y="2103120"/>
            <a:ext cx="495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50%</a:t>
            </a:r>
            <a:endParaRPr lang="en-US" sz="6000" dirty="0"/>
          </a:p>
        </p:txBody>
      </p:sp>
      <p:sp>
        <p:nvSpPr>
          <p:cNvPr id="16" name="Text 13"/>
          <p:cNvSpPr/>
          <p:nvPr/>
        </p:nvSpPr>
        <p:spPr>
          <a:xfrm>
            <a:off x="6461608" y="2926080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Somnium Properties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61608" y="333756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D3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(Gestão Operacional, Execução, Risco Técnico)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4069080"/>
            <a:ext cx="11185855" cy="18288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9" name="Shape 16"/>
          <p:cNvSpPr/>
          <p:nvPr/>
        </p:nvSpPr>
        <p:spPr>
          <a:xfrm>
            <a:off x="502920" y="4069080"/>
            <a:ext cx="11185855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44348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Sinal de Confiança Absoluta:  Co-Investimento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051560" y="502920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Somnium Properties investe o seu próprio capital nos projetos que estrutura. Apenas abrimos espaço a parceiros após a nossa própria validação financeira.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291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RESUMO EXECUTIVO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640080"/>
            <a:ext cx="11185855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6355080"/>
            <a:ext cx="11185855" cy="640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Marco 2026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Oportunidade Somnium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3618890" cy="41148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1" name="Shape 8"/>
          <p:cNvSpPr/>
          <p:nvPr/>
        </p:nvSpPr>
        <p:spPr>
          <a:xfrm>
            <a:off x="502920" y="1874520"/>
            <a:ext cx="361889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148840"/>
            <a:ext cx="30702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8000" dirty="0"/>
          </a:p>
        </p:txBody>
      </p:sp>
      <p:sp>
        <p:nvSpPr>
          <p:cNvPr id="13" name="Text 10"/>
          <p:cNvSpPr/>
          <p:nvPr/>
        </p:nvSpPr>
        <p:spPr>
          <a:xfrm>
            <a:off x="777240" y="3429000"/>
            <a:ext cx="3070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Segurança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77240" y="3886200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(Zero Improviso)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" y="420624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343400"/>
            <a:ext cx="307025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3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Matemática pura na compra (MAO validado) e matrizes de Stress Tests severos com testes nos ativos.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86402" y="1874520"/>
            <a:ext cx="3618890" cy="41148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8" name="Shape 15"/>
          <p:cNvSpPr/>
          <p:nvPr/>
        </p:nvSpPr>
        <p:spPr>
          <a:xfrm>
            <a:off x="4286402" y="1874520"/>
            <a:ext cx="361889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6"/>
          <p:cNvSpPr/>
          <p:nvPr/>
        </p:nvSpPr>
        <p:spPr>
          <a:xfrm>
            <a:off x="4560722" y="2148840"/>
            <a:ext cx="30702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8000" dirty="0"/>
          </a:p>
        </p:txBody>
      </p:sp>
      <p:sp>
        <p:nvSpPr>
          <p:cNvPr id="20" name="Text 17"/>
          <p:cNvSpPr/>
          <p:nvPr/>
        </p:nvSpPr>
        <p:spPr>
          <a:xfrm>
            <a:off x="4560722" y="3429000"/>
            <a:ext cx="3070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Rentabilidade Otimizada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560722" y="420624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4560722" y="4343400"/>
            <a:ext cx="307025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3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Proteção do ROI com estratégias de saída táticas pré-definidas (SOP 10).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069885" y="1874520"/>
            <a:ext cx="3618890" cy="41148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4" name="Shape 21"/>
          <p:cNvSpPr/>
          <p:nvPr/>
        </p:nvSpPr>
        <p:spPr>
          <a:xfrm>
            <a:off x="8069885" y="1874520"/>
            <a:ext cx="361889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2"/>
          <p:cNvSpPr/>
          <p:nvPr/>
        </p:nvSpPr>
        <p:spPr>
          <a:xfrm>
            <a:off x="8344205" y="2148840"/>
            <a:ext cx="30702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8000" dirty="0"/>
          </a:p>
        </p:txBody>
      </p:sp>
      <p:sp>
        <p:nvSpPr>
          <p:cNvPr id="26" name="Text 23"/>
          <p:cNvSpPr/>
          <p:nvPr/>
        </p:nvSpPr>
        <p:spPr>
          <a:xfrm>
            <a:off x="8344205" y="3429000"/>
            <a:ext cx="3070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Transparência Institucional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8344205" y="420624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5"/>
          <p:cNvSpPr/>
          <p:nvPr/>
        </p:nvSpPr>
        <p:spPr>
          <a:xfrm>
            <a:off x="8344205" y="4343400"/>
            <a:ext cx="307025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3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Acesso total aos números e ao terreno de forma digital e assíncrona. Controlo absoluto, esforço nulo.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648" y="914400"/>
            <a:ext cx="3200400" cy="12962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1800" y="2576364"/>
            <a:ext cx="768096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2804964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Construa um Portfólio</a:t>
            </a:r>
            <a:endParaRPr lang="en-US" sz="3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 Dores de Cabeça.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874520" y="4268004"/>
            <a:ext cx="8442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Junte-se ao nosso grupo restrito de investidores passivos e deixe o rigor clínico proteger o seu capital.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81448" y="4908084"/>
            <a:ext cx="182880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181448" y="49080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Quero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74520" y="5776764"/>
            <a:ext cx="8442655" cy="640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59139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Alexandre Mendes &amp; João Abreu  ·  geral@somniumproperties.pt  ·  www.somniumproperties.pt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6355080"/>
            <a:ext cx="11185855" cy="640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6446520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Somnium Properties · Investimento Imobiliário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02920" y="6611112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Documento Confidencial · Marco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Somnium Properties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a Investidores — Marco 2026</dc:title>
  <dc:subject>PptxGenJS Presentation</dc:subject>
  <dc:creator>Somnium Properties</dc:creator>
  <cp:lastModifiedBy>Somnium Properties</cp:lastModifiedBy>
  <cp:revision>1</cp:revision>
  <dcterms:created xsi:type="dcterms:W3CDTF">2026-05-07T16:53:52Z</dcterms:created>
  <dcterms:modified xsi:type="dcterms:W3CDTF">2026-05-07T16:53:52Z</dcterms:modified>
</cp:coreProperties>
</file>