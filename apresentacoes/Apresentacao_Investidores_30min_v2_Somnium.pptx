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1148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41148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11505895" y="41148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11894515" y="41148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642366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603504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11505895" y="642366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11894515" y="603504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Shape 10"/>
          <p:cNvSpPr/>
          <p:nvPr/>
        </p:nvSpPr>
        <p:spPr>
          <a:xfrm>
            <a:off x="9905695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06863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8031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9199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10367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11535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12703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13871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15039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6207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05695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06863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08031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09199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10367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11535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12703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13871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15039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1" name="Shape 29"/>
          <p:cNvSpPr/>
          <p:nvPr/>
        </p:nvSpPr>
        <p:spPr>
          <a:xfrm>
            <a:off x="11716207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05695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6863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08031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09199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10367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11535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12703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9" name="Shape 37"/>
          <p:cNvSpPr/>
          <p:nvPr/>
        </p:nvSpPr>
        <p:spPr>
          <a:xfrm>
            <a:off x="11313871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0" name="Shape 38"/>
          <p:cNvSpPr/>
          <p:nvPr/>
        </p:nvSpPr>
        <p:spPr>
          <a:xfrm>
            <a:off x="11515039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1" name="Shape 39"/>
          <p:cNvSpPr/>
          <p:nvPr/>
        </p:nvSpPr>
        <p:spPr>
          <a:xfrm>
            <a:off x="11716207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2" name="Shape 40"/>
          <p:cNvSpPr/>
          <p:nvPr/>
        </p:nvSpPr>
        <p:spPr>
          <a:xfrm>
            <a:off x="9905695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06863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08031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09199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10367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11535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12703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9" name="Shape 47"/>
          <p:cNvSpPr/>
          <p:nvPr/>
        </p:nvSpPr>
        <p:spPr>
          <a:xfrm>
            <a:off x="11313871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0" name="Shape 48"/>
          <p:cNvSpPr/>
          <p:nvPr/>
        </p:nvSpPr>
        <p:spPr>
          <a:xfrm>
            <a:off x="11515039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1" name="Shape 49"/>
          <p:cNvSpPr/>
          <p:nvPr/>
        </p:nvSpPr>
        <p:spPr>
          <a:xfrm>
            <a:off x="11716207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2" name="Shape 50"/>
          <p:cNvSpPr/>
          <p:nvPr/>
        </p:nvSpPr>
        <p:spPr>
          <a:xfrm>
            <a:off x="9905695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06863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4" name="Shape 52"/>
          <p:cNvSpPr/>
          <p:nvPr/>
        </p:nvSpPr>
        <p:spPr>
          <a:xfrm>
            <a:off x="10308031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509199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10367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11535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8" name="Shape 56"/>
          <p:cNvSpPr/>
          <p:nvPr/>
        </p:nvSpPr>
        <p:spPr>
          <a:xfrm>
            <a:off x="11112703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9" name="Shape 57"/>
          <p:cNvSpPr/>
          <p:nvPr/>
        </p:nvSpPr>
        <p:spPr>
          <a:xfrm>
            <a:off x="11313871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0" name="Shape 58"/>
          <p:cNvSpPr/>
          <p:nvPr/>
        </p:nvSpPr>
        <p:spPr>
          <a:xfrm>
            <a:off x="11515039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1" name="Shape 59"/>
          <p:cNvSpPr/>
          <p:nvPr/>
        </p:nvSpPr>
        <p:spPr>
          <a:xfrm>
            <a:off x="11716207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2" name="Shape 60"/>
          <p:cNvSpPr/>
          <p:nvPr/>
        </p:nvSpPr>
        <p:spPr>
          <a:xfrm>
            <a:off x="9905695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06863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08031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5" name="Shape 63"/>
          <p:cNvSpPr/>
          <p:nvPr/>
        </p:nvSpPr>
        <p:spPr>
          <a:xfrm>
            <a:off x="10509199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10367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7" name="Shape 65"/>
          <p:cNvSpPr/>
          <p:nvPr/>
        </p:nvSpPr>
        <p:spPr>
          <a:xfrm>
            <a:off x="10911535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8" name="Shape 66"/>
          <p:cNvSpPr/>
          <p:nvPr/>
        </p:nvSpPr>
        <p:spPr>
          <a:xfrm>
            <a:off x="11112703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9" name="Shape 67"/>
          <p:cNvSpPr/>
          <p:nvPr/>
        </p:nvSpPr>
        <p:spPr>
          <a:xfrm>
            <a:off x="11313871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0" name="Shape 68"/>
          <p:cNvSpPr/>
          <p:nvPr/>
        </p:nvSpPr>
        <p:spPr>
          <a:xfrm>
            <a:off x="11515039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1" name="Shape 69"/>
          <p:cNvSpPr/>
          <p:nvPr/>
        </p:nvSpPr>
        <p:spPr>
          <a:xfrm>
            <a:off x="11716207" y="19202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2" name="Shape 70"/>
          <p:cNvSpPr/>
          <p:nvPr/>
        </p:nvSpPr>
        <p:spPr>
          <a:xfrm>
            <a:off x="457200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3" name="Shape 71"/>
          <p:cNvSpPr/>
          <p:nvPr/>
        </p:nvSpPr>
        <p:spPr>
          <a:xfrm>
            <a:off x="658368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4" name="Shape 72"/>
          <p:cNvSpPr/>
          <p:nvPr/>
        </p:nvSpPr>
        <p:spPr>
          <a:xfrm>
            <a:off x="859536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60704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6" name="Shape 74"/>
          <p:cNvSpPr/>
          <p:nvPr/>
        </p:nvSpPr>
        <p:spPr>
          <a:xfrm>
            <a:off x="1261872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7" name="Shape 75"/>
          <p:cNvSpPr/>
          <p:nvPr/>
        </p:nvSpPr>
        <p:spPr>
          <a:xfrm>
            <a:off x="1463040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8" name="Shape 76"/>
          <p:cNvSpPr/>
          <p:nvPr/>
        </p:nvSpPr>
        <p:spPr>
          <a:xfrm>
            <a:off x="1664208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9" name="Shape 77"/>
          <p:cNvSpPr/>
          <p:nvPr/>
        </p:nvSpPr>
        <p:spPr>
          <a:xfrm>
            <a:off x="1865376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0" name="Shape 78"/>
          <p:cNvSpPr/>
          <p:nvPr/>
        </p:nvSpPr>
        <p:spPr>
          <a:xfrm>
            <a:off x="2066544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1" name="Shape 79"/>
          <p:cNvSpPr/>
          <p:nvPr/>
        </p:nvSpPr>
        <p:spPr>
          <a:xfrm>
            <a:off x="2267712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2" name="Shape 80"/>
          <p:cNvSpPr/>
          <p:nvPr/>
        </p:nvSpPr>
        <p:spPr>
          <a:xfrm>
            <a:off x="457200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3" name="Shape 81"/>
          <p:cNvSpPr/>
          <p:nvPr/>
        </p:nvSpPr>
        <p:spPr>
          <a:xfrm>
            <a:off x="658368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5" name="Shape 83"/>
          <p:cNvSpPr/>
          <p:nvPr/>
        </p:nvSpPr>
        <p:spPr>
          <a:xfrm>
            <a:off x="1060704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6" name="Shape 84"/>
          <p:cNvSpPr/>
          <p:nvPr/>
        </p:nvSpPr>
        <p:spPr>
          <a:xfrm>
            <a:off x="1261872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7" name="Shape 85"/>
          <p:cNvSpPr/>
          <p:nvPr/>
        </p:nvSpPr>
        <p:spPr>
          <a:xfrm>
            <a:off x="1463040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8" name="Shape 86"/>
          <p:cNvSpPr/>
          <p:nvPr/>
        </p:nvSpPr>
        <p:spPr>
          <a:xfrm>
            <a:off x="1664208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9" name="Shape 87"/>
          <p:cNvSpPr/>
          <p:nvPr/>
        </p:nvSpPr>
        <p:spPr>
          <a:xfrm>
            <a:off x="1865376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0" name="Shape 88"/>
          <p:cNvSpPr/>
          <p:nvPr/>
        </p:nvSpPr>
        <p:spPr>
          <a:xfrm>
            <a:off x="2066544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1" name="Shape 89"/>
          <p:cNvSpPr/>
          <p:nvPr/>
        </p:nvSpPr>
        <p:spPr>
          <a:xfrm>
            <a:off x="2267712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2" name="Shape 90"/>
          <p:cNvSpPr/>
          <p:nvPr/>
        </p:nvSpPr>
        <p:spPr>
          <a:xfrm>
            <a:off x="457200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3" name="Shape 91"/>
          <p:cNvSpPr/>
          <p:nvPr/>
        </p:nvSpPr>
        <p:spPr>
          <a:xfrm>
            <a:off x="658368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4" name="Shape 92"/>
          <p:cNvSpPr/>
          <p:nvPr/>
        </p:nvSpPr>
        <p:spPr>
          <a:xfrm>
            <a:off x="859536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5" name="Shape 93"/>
          <p:cNvSpPr/>
          <p:nvPr/>
        </p:nvSpPr>
        <p:spPr>
          <a:xfrm>
            <a:off x="1060704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6" name="Shape 94"/>
          <p:cNvSpPr/>
          <p:nvPr/>
        </p:nvSpPr>
        <p:spPr>
          <a:xfrm>
            <a:off x="1261872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7" name="Shape 95"/>
          <p:cNvSpPr/>
          <p:nvPr/>
        </p:nvSpPr>
        <p:spPr>
          <a:xfrm>
            <a:off x="1463040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8" name="Shape 96"/>
          <p:cNvSpPr/>
          <p:nvPr/>
        </p:nvSpPr>
        <p:spPr>
          <a:xfrm>
            <a:off x="1664208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9" name="Shape 97"/>
          <p:cNvSpPr/>
          <p:nvPr/>
        </p:nvSpPr>
        <p:spPr>
          <a:xfrm>
            <a:off x="1865376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0" name="Shape 98"/>
          <p:cNvSpPr/>
          <p:nvPr/>
        </p:nvSpPr>
        <p:spPr>
          <a:xfrm>
            <a:off x="2066544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1" name="Shape 99"/>
          <p:cNvSpPr/>
          <p:nvPr/>
        </p:nvSpPr>
        <p:spPr>
          <a:xfrm>
            <a:off x="2267712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57200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658368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59536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60704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261872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463040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664208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865376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066544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267712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57200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58368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9536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60704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261872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463040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664208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865376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066544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267712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57200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58368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59536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060704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261872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463040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664208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865376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066544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267712" y="603504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pic>
        <p:nvPicPr>
          <p:cNvPr id="132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248" y="1221834"/>
            <a:ext cx="5029200" cy="2036892"/>
          </a:xfrm>
          <a:prstGeom prst="rect">
            <a:avLst/>
          </a:prstGeom>
        </p:spPr>
      </p:pic>
      <p:sp>
        <p:nvSpPr>
          <p:cNvPr id="133" name="Shape 130"/>
          <p:cNvSpPr/>
          <p:nvPr/>
        </p:nvSpPr>
        <p:spPr>
          <a:xfrm>
            <a:off x="2331720" y="3715926"/>
            <a:ext cx="75282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4" name="Shape 131"/>
          <p:cNvSpPr/>
          <p:nvPr/>
        </p:nvSpPr>
        <p:spPr>
          <a:xfrm>
            <a:off x="6031840" y="3683922"/>
            <a:ext cx="128016" cy="128016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35" name="Text 132"/>
          <p:cNvSpPr/>
          <p:nvPr/>
        </p:nvSpPr>
        <p:spPr>
          <a:xfrm>
            <a:off x="502920" y="3944526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Investimento e Gestão de Ativos</a:t>
            </a:r>
            <a:endParaRPr lang="en-US" sz="3800" dirty="0"/>
          </a:p>
        </p:txBody>
      </p:sp>
      <p:sp>
        <p:nvSpPr>
          <p:cNvPr id="136" name="Text 133"/>
          <p:cNvSpPr/>
          <p:nvPr/>
        </p:nvSpPr>
        <p:spPr>
          <a:xfrm>
            <a:off x="502920" y="467604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 CLÍNICO  ·  TRANSPARÊNCIA TOTAL  ·  RENTABILIDADE</a:t>
            </a:r>
            <a:endParaRPr lang="en-US" sz="1200" dirty="0"/>
          </a:p>
        </p:txBody>
      </p:sp>
      <p:sp>
        <p:nvSpPr>
          <p:cNvPr id="137" name="Text 134"/>
          <p:cNvSpPr/>
          <p:nvPr/>
        </p:nvSpPr>
        <p:spPr>
          <a:xfrm>
            <a:off x="502920" y="508752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abordagem de 'Zero Improviso' ao investimento imobiliário.</a:t>
            </a:r>
            <a:endParaRPr lang="en-US" sz="1300" dirty="0"/>
          </a:p>
        </p:txBody>
      </p:sp>
      <p:sp>
        <p:nvSpPr>
          <p:cNvPr id="138" name="Shape 135"/>
          <p:cNvSpPr/>
          <p:nvPr/>
        </p:nvSpPr>
        <p:spPr>
          <a:xfrm>
            <a:off x="502920" y="621792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9" name="Text 136"/>
          <p:cNvSpPr/>
          <p:nvPr/>
        </p:nvSpPr>
        <p:spPr>
          <a:xfrm>
            <a:off x="502920" y="635508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Preparado para Investidores Privados  ·  Coimbra  ·  Portugal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02920" y="6537960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Documento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valor não está apenas no ativo. Está na execução.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Investir sozinho expõe a três assimetrias de mercado: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194560"/>
            <a:ext cx="3545738" cy="3657600"/>
          </a:xfrm>
          <a:prstGeom prst="roundRect">
            <a:avLst>
              <a:gd name="adj" fmla="val 257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51378" y="22860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E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8000" dirty="0"/>
          </a:p>
        </p:txBody>
      </p:sp>
      <p:sp>
        <p:nvSpPr>
          <p:cNvPr id="14" name="Shape 11"/>
          <p:cNvSpPr/>
          <p:nvPr/>
        </p:nvSpPr>
        <p:spPr>
          <a:xfrm>
            <a:off x="1727149" y="2606040"/>
            <a:ext cx="1097280" cy="1097280"/>
          </a:xfrm>
          <a:prstGeom prst="ellipse">
            <a:avLst/>
          </a:prstGeom>
          <a:solidFill>
            <a:srgbClr val="F2E8C4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39213" y="2697480"/>
            <a:ext cx="73152" cy="7315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Shape 13"/>
          <p:cNvSpPr/>
          <p:nvPr/>
        </p:nvSpPr>
        <p:spPr>
          <a:xfrm>
            <a:off x="2275789" y="3154680"/>
            <a:ext cx="0" cy="-32004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275789" y="3154680"/>
            <a:ext cx="274320" cy="0"/>
          </a:xfrm>
          <a:prstGeom prst="line">
            <a:avLst/>
          </a:prstGeom>
          <a:noFill/>
          <a:ln w="2540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88620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Tempo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047189" y="43891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57200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Prospeção, negociação e gestão de obras consomem semanas inteiras a cada negócio.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22978" y="2194560"/>
            <a:ext cx="3545738" cy="3657600"/>
          </a:xfrm>
          <a:prstGeom prst="roundRect">
            <a:avLst>
              <a:gd name="adj" fmla="val 257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71437" y="22860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E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8000" dirty="0"/>
          </a:p>
        </p:txBody>
      </p:sp>
      <p:sp>
        <p:nvSpPr>
          <p:cNvPr id="23" name="Shape 20"/>
          <p:cNvSpPr/>
          <p:nvPr/>
        </p:nvSpPr>
        <p:spPr>
          <a:xfrm>
            <a:off x="5547208" y="2606040"/>
            <a:ext cx="1097280" cy="1097280"/>
          </a:xfrm>
          <a:prstGeom prst="triangle">
            <a:avLst/>
          </a:prstGeom>
          <a:solidFill>
            <a:srgbClr val="F2E8C4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47208" y="28346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!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4597298" y="388620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Risco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867248" y="43891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4688738" y="457200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Decisões emocionais e derrapagens financeiras não calculadas geram perdas evitáveis.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143037" y="2194560"/>
            <a:ext cx="3545738" cy="3657600"/>
          </a:xfrm>
          <a:prstGeom prst="roundRect">
            <a:avLst>
              <a:gd name="adj" fmla="val 257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591495" y="22860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E8C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8000" dirty="0"/>
          </a:p>
        </p:txBody>
      </p:sp>
      <p:sp>
        <p:nvSpPr>
          <p:cNvPr id="30" name="Shape 27"/>
          <p:cNvSpPr/>
          <p:nvPr/>
        </p:nvSpPr>
        <p:spPr>
          <a:xfrm>
            <a:off x="9915906" y="2697480"/>
            <a:ext cx="411480" cy="45720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915906" y="2697480"/>
            <a:ext cx="-411480" cy="45720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915906" y="2697480"/>
            <a:ext cx="0" cy="86868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7386" y="3154680"/>
            <a:ext cx="-411480" cy="-45720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327386" y="3154680"/>
            <a:ext cx="-82296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327386" y="3154680"/>
            <a:ext cx="-411480" cy="41148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04426" y="3154680"/>
            <a:ext cx="411480" cy="-45720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504426" y="3154680"/>
            <a:ext cx="82296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04426" y="3154680"/>
            <a:ext cx="411480" cy="41148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15906" y="3566160"/>
            <a:ext cx="0" cy="-86868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915906" y="3566160"/>
            <a:ext cx="411480" cy="-41148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915906" y="3566160"/>
            <a:ext cx="-411480" cy="-41148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797034" y="3035808"/>
            <a:ext cx="237744" cy="237744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3" name="Shape 40"/>
          <p:cNvSpPr/>
          <p:nvPr/>
        </p:nvSpPr>
        <p:spPr>
          <a:xfrm>
            <a:off x="9824466" y="2606040"/>
            <a:ext cx="182880" cy="182880"/>
          </a:xfrm>
          <a:prstGeom prst="ellipse">
            <a:avLst/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235946" y="3063240"/>
            <a:ext cx="182880" cy="182880"/>
          </a:xfrm>
          <a:prstGeom prst="ellipse">
            <a:avLst/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412986" y="3063240"/>
            <a:ext cx="182880" cy="182880"/>
          </a:xfrm>
          <a:prstGeom prst="ellipse">
            <a:avLst/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824466" y="3474720"/>
            <a:ext cx="182880" cy="182880"/>
          </a:xfrm>
          <a:prstGeom prst="ellipse">
            <a:avLst/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17357" y="388620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Execução</a:t>
            </a:r>
            <a:endParaRPr lang="en-US" sz="2200" dirty="0"/>
          </a:p>
        </p:txBody>
      </p:sp>
      <p:sp>
        <p:nvSpPr>
          <p:cNvPr id="48" name="Shape 45"/>
          <p:cNvSpPr/>
          <p:nvPr/>
        </p:nvSpPr>
        <p:spPr>
          <a:xfrm>
            <a:off x="9687306" y="438912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9" name="Text 46"/>
          <p:cNvSpPr/>
          <p:nvPr/>
        </p:nvSpPr>
        <p:spPr>
          <a:xfrm>
            <a:off x="8508797" y="4572000"/>
            <a:ext cx="28142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Empreiteiros incertos, sem rede e sem poder negocial. Cada obra é um salto no escuro.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02920" y="60167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A Somnium Properties resolve esta assimetria com método.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QUEM SOMOS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Filosofia 'Zero Improviso'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1874520" y="1627632"/>
            <a:ext cx="2954929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29449" y="1627632"/>
            <a:ext cx="45720" cy="-4572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75169" y="1581912"/>
            <a:ext cx="45720" cy="16459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20889" y="1746504"/>
            <a:ext cx="45720" cy="-22860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66609" y="1517904"/>
            <a:ext cx="45720" cy="16459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12329" y="1682496"/>
            <a:ext cx="45720" cy="-54864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58049" y="1627632"/>
            <a:ext cx="4572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03769" y="1627632"/>
            <a:ext cx="5213406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17320" y="1828800"/>
            <a:ext cx="9357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Aplicamos ao imobiliário a disciplina, ética e rigor da área da Saúde — onde o erro não é uma opção.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02920" y="2788920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2930652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29306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2898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Origem Clínica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31729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Fundadores com background em Saúde aplicam protocolos rigorosos.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3730752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" y="3872484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3872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71600" y="38404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Dados sobre Instinto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7160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decisão sustentada por análise quantitativa e simulação.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4672584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800" y="4814316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48143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371600" y="4782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Rede Validada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371600" y="5056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Equipa técnica + 72 parceiros operacionais já testados no terreno.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629400" y="2788920"/>
            <a:ext cx="5059375" cy="2660904"/>
          </a:xfrm>
          <a:prstGeom prst="roundRect">
            <a:avLst>
              <a:gd name="adj" fmla="val 3436"/>
            </a:avLst>
          </a:prstGeom>
          <a:solidFill>
            <a:srgbClr val="F5F3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29400" y="2788920"/>
            <a:ext cx="5059375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4"/>
          <p:cNvSpPr/>
          <p:nvPr/>
        </p:nvSpPr>
        <p:spPr>
          <a:xfrm>
            <a:off x="6903720" y="295351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903720" y="329184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6"/>
          <p:cNvSpPr/>
          <p:nvPr/>
        </p:nvSpPr>
        <p:spPr>
          <a:xfrm>
            <a:off x="6903720" y="336499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&amp; João Abreu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903720" y="365760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Fundadores  ·  Gestão clínica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903720" y="406908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39"/>
          <p:cNvSpPr/>
          <p:nvPr/>
        </p:nvSpPr>
        <p:spPr>
          <a:xfrm>
            <a:off x="6903720" y="414223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Luís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903720" y="443484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Gestor de Obra  ·  Construção e licenciamento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903720" y="4846320"/>
            <a:ext cx="36576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5" name="Text 42"/>
          <p:cNvSpPr/>
          <p:nvPr/>
        </p:nvSpPr>
        <p:spPr>
          <a:xfrm>
            <a:off x="6903720" y="4919472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João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903720" y="521208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Consultor Estratégico  ·  Visão macro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Ciência da Compra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783080"/>
            <a:ext cx="4572000" cy="2377440"/>
          </a:xfrm>
          <a:prstGeom prst="roundRect">
            <a:avLst>
              <a:gd name="adj" fmla="val 3846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011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LINHA DE SEGURANÇA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sobre o VVR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68680" y="3063240"/>
            <a:ext cx="3840480" cy="320040"/>
          </a:xfrm>
          <a:prstGeom prst="rect">
            <a:avLst/>
          </a:prstGeom>
          <a:solidFill>
            <a:srgbClr val="F0EFE9"/>
          </a:solidFill>
          <a:ln w="6350">
            <a:solidFill>
              <a:srgbClr val="E0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26587" y="3063240"/>
            <a:ext cx="230429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Shape 13"/>
          <p:cNvSpPr/>
          <p:nvPr/>
        </p:nvSpPr>
        <p:spPr>
          <a:xfrm>
            <a:off x="864108" y="3383280"/>
            <a:ext cx="9144" cy="7315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84348" y="3383280"/>
            <a:ext cx="9144" cy="7315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19" name="Text 16"/>
          <p:cNvSpPr/>
          <p:nvPr/>
        </p:nvSpPr>
        <p:spPr>
          <a:xfrm>
            <a:off x="256032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704588" y="3383280"/>
            <a:ext cx="9144" cy="73152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1" name="Text 18"/>
          <p:cNvSpPr/>
          <p:nvPr/>
        </p:nvSpPr>
        <p:spPr>
          <a:xfrm>
            <a:off x="448056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980944" y="278892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64–70%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49778" y="3017520"/>
            <a:ext cx="91440" cy="91440"/>
          </a:xfrm>
          <a:prstGeom prst="downArrowCallout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Margem clínica preservada antes de qualquer proposta.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49240" y="1783080"/>
            <a:ext cx="45720" cy="746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5532120" y="178308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Validação Cruzada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32120" y="2075688"/>
            <a:ext cx="6156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Mínimo 5 comparáveis cruzados com avaliadores e parceiros locais.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349240" y="2621280"/>
            <a:ext cx="45720" cy="746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6"/>
          <p:cNvSpPr/>
          <p:nvPr/>
        </p:nvSpPr>
        <p:spPr>
          <a:xfrm>
            <a:off x="5532120" y="262128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Matemático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532120" y="2913888"/>
            <a:ext cx="6156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Correções automáticas por área, localização, idade e conservação.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349240" y="3459480"/>
            <a:ext cx="45720" cy="746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9"/>
          <p:cNvSpPr/>
          <p:nvPr/>
        </p:nvSpPr>
        <p:spPr>
          <a:xfrm>
            <a:off x="5532120" y="3459480"/>
            <a:ext cx="6156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Linha de Segurança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32120" y="3752088"/>
            <a:ext cx="6156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calcula sempre a margem antes de avançar para proposta.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920" y="4434840"/>
            <a:ext cx="11185855" cy="1280160"/>
          </a:xfrm>
          <a:prstGeom prst="roundRect">
            <a:avLst>
              <a:gd name="adj" fmla="val 7143"/>
            </a:avLst>
          </a:prstGeom>
          <a:solidFill>
            <a:srgbClr val="F5F3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" y="5678424"/>
            <a:ext cx="11185855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466344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 =  ( VVR  ×  0,64  a  0,70 )  −  Custo de Obra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502920" y="521208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Maximum Allowable Offer  ·  Nunca compramos acima da linha de segurança 64–70% do VVR.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  ·  SEGURANÇA &amp; RIGOR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Obsessão com o Risco: Stress Tests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 operação simulada em três cenários antes de avançar: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057400"/>
            <a:ext cx="3545738" cy="3108960"/>
          </a:xfrm>
          <a:prstGeom prst="roundRect">
            <a:avLst>
              <a:gd name="adj" fmla="val 2941"/>
            </a:avLst>
          </a:prstGeom>
          <a:solidFill>
            <a:srgbClr val="FBF8EE"/>
          </a:solidFill>
          <a:ln w="19050">
            <a:solidFill>
              <a:srgbClr val="2D6A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057400"/>
            <a:ext cx="3545738" cy="502920"/>
          </a:xfrm>
          <a:prstGeom prst="roundRect">
            <a:avLst>
              <a:gd name="adj" fmla="val 18182"/>
            </a:avLst>
          </a:prstGeom>
          <a:solidFill>
            <a:srgbClr val="D6E5D0"/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" y="2423160"/>
            <a:ext cx="3545738" cy="137160"/>
          </a:xfrm>
          <a:prstGeom prst="rect">
            <a:avLst/>
          </a:prstGeom>
          <a:solidFill>
            <a:srgbClr val="D6E5D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80160" y="205740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CENÁRIO BASE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2834640"/>
            <a:ext cx="3545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D6A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0%</a:t>
            </a:r>
            <a:endParaRPr lang="en-US" sz="6400" dirty="0"/>
          </a:p>
        </p:txBody>
      </p:sp>
      <p:sp>
        <p:nvSpPr>
          <p:cNvPr id="18" name="Text 15"/>
          <p:cNvSpPr/>
          <p:nvPr/>
        </p:nvSpPr>
        <p:spPr>
          <a:xfrm>
            <a:off x="502920" y="38404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ideal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001469" y="4178808"/>
            <a:ext cx="548640" cy="7315"/>
          </a:xfrm>
          <a:prstGeom prst="rect">
            <a:avLst/>
          </a:prstGeom>
          <a:solidFill>
            <a:srgbClr val="2D6A2D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429768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Conservador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" y="46634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buffer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22978" y="2057400"/>
            <a:ext cx="3545738" cy="3108960"/>
          </a:xfrm>
          <a:prstGeom prst="roundRect">
            <a:avLst>
              <a:gd name="adj" fmla="val 2941"/>
            </a:avLst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22978" y="2057400"/>
            <a:ext cx="3545738" cy="502920"/>
          </a:xfrm>
          <a:prstGeom prst="roundRect">
            <a:avLst>
              <a:gd name="adj" fmla="val 18182"/>
            </a:avLst>
          </a:prstGeom>
          <a:solidFill>
            <a:srgbClr val="F5E6C4"/>
          </a:solidFill>
          <a:ln/>
        </p:spPr>
      </p:sp>
      <p:sp>
        <p:nvSpPr>
          <p:cNvPr id="24" name="Shape 21"/>
          <p:cNvSpPr/>
          <p:nvPr/>
        </p:nvSpPr>
        <p:spPr>
          <a:xfrm>
            <a:off x="4322978" y="2423160"/>
            <a:ext cx="3545738" cy="137160"/>
          </a:xfrm>
          <a:prstGeom prst="rect">
            <a:avLst/>
          </a:prstGeom>
          <a:solidFill>
            <a:srgbClr val="F5E6C4"/>
          </a:solidFill>
          <a:ln/>
        </p:spPr>
      </p:sp>
      <p:sp>
        <p:nvSpPr>
          <p:cNvPr id="25" name="Text 22"/>
          <p:cNvSpPr/>
          <p:nvPr/>
        </p:nvSpPr>
        <p:spPr>
          <a:xfrm>
            <a:off x="4551578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100218" y="205740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MODERADO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322978" y="2834640"/>
            <a:ext cx="3545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−10%</a:t>
            </a:r>
            <a:endParaRPr lang="en-US" sz="6400" dirty="0"/>
          </a:p>
        </p:txBody>
      </p:sp>
      <p:sp>
        <p:nvSpPr>
          <p:cNvPr id="28" name="Text 25"/>
          <p:cNvSpPr/>
          <p:nvPr/>
        </p:nvSpPr>
        <p:spPr>
          <a:xfrm>
            <a:off x="4322978" y="38404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VVR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21528" y="4178808"/>
            <a:ext cx="548640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7"/>
          <p:cNvSpPr/>
          <p:nvPr/>
        </p:nvSpPr>
        <p:spPr>
          <a:xfrm>
            <a:off x="4505858" y="429768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+10% Custo Obra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05858" y="46634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 meses retenção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43037" y="2057400"/>
            <a:ext cx="3545738" cy="3108960"/>
          </a:xfrm>
          <a:prstGeom prst="roundRect">
            <a:avLst>
              <a:gd name="adj" fmla="val 2941"/>
            </a:avLst>
          </a:prstGeom>
          <a:solidFill>
            <a:srgbClr val="FBF8EE"/>
          </a:solidFill>
          <a:ln w="19050">
            <a:solidFill>
              <a:srgbClr val="8B202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143037" y="2057400"/>
            <a:ext cx="3545738" cy="502920"/>
          </a:xfrm>
          <a:prstGeom prst="roundRect">
            <a:avLst>
              <a:gd name="adj" fmla="val 18182"/>
            </a:avLst>
          </a:prstGeom>
          <a:solidFill>
            <a:srgbClr val="F0D6D6"/>
          </a:solidFill>
          <a:ln/>
        </p:spPr>
      </p:sp>
      <p:sp>
        <p:nvSpPr>
          <p:cNvPr id="34" name="Shape 31"/>
          <p:cNvSpPr/>
          <p:nvPr/>
        </p:nvSpPr>
        <p:spPr>
          <a:xfrm>
            <a:off x="8143037" y="2423160"/>
            <a:ext cx="3545738" cy="137160"/>
          </a:xfrm>
          <a:prstGeom prst="rect">
            <a:avLst/>
          </a:prstGeom>
          <a:solidFill>
            <a:srgbClr val="F0D6D6"/>
          </a:solidFill>
          <a:ln/>
        </p:spPr>
      </p:sp>
      <p:sp>
        <p:nvSpPr>
          <p:cNvPr id="35" name="Text 32"/>
          <p:cNvSpPr/>
          <p:nvPr/>
        </p:nvSpPr>
        <p:spPr>
          <a:xfrm>
            <a:off x="8371637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0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920277" y="2057400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20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SEVERO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143037" y="2834640"/>
            <a:ext cx="3545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202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−20%</a:t>
            </a:r>
            <a:endParaRPr lang="en-US" sz="6400" dirty="0"/>
          </a:p>
        </p:txBody>
      </p:sp>
      <p:sp>
        <p:nvSpPr>
          <p:cNvPr id="38" name="Text 35"/>
          <p:cNvSpPr/>
          <p:nvPr/>
        </p:nvSpPr>
        <p:spPr>
          <a:xfrm>
            <a:off x="8143037" y="384048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VVR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641586" y="4178808"/>
            <a:ext cx="548640" cy="7315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40" name="Text 37"/>
          <p:cNvSpPr/>
          <p:nvPr/>
        </p:nvSpPr>
        <p:spPr>
          <a:xfrm>
            <a:off x="8325917" y="429768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+20% Custo Obra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325917" y="466344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+6 meses retenção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5486400"/>
            <a:ext cx="11185855" cy="731520"/>
          </a:xfrm>
          <a:prstGeom prst="roundRect">
            <a:avLst>
              <a:gd name="adj" fmla="val 12500"/>
            </a:avLst>
          </a:prstGeom>
          <a:solidFill>
            <a:srgbClr val="F5F3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5486400"/>
            <a:ext cx="54864" cy="7315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4" name="Text 41"/>
          <p:cNvSpPr/>
          <p:nvPr/>
        </p:nvSpPr>
        <p:spPr>
          <a:xfrm>
            <a:off x="777240" y="5605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REGRA DE OURO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Nenhum negócio avança se só for rentável no Cenário Base.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  ·  RENTABILIDADE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Tática de Venda Cirúrgica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1417320" y="2468880"/>
            <a:ext cx="93570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Shape 9"/>
          <p:cNvSpPr/>
          <p:nvPr/>
        </p:nvSpPr>
        <p:spPr>
          <a:xfrm>
            <a:off x="2260549" y="2057400"/>
            <a:ext cx="822960" cy="8229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2260549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3800" dirty="0"/>
          </a:p>
        </p:txBody>
      </p:sp>
      <p:sp>
        <p:nvSpPr>
          <p:cNvPr id="14" name="Shape 11"/>
          <p:cNvSpPr/>
          <p:nvPr/>
        </p:nvSpPr>
        <p:spPr>
          <a:xfrm>
            <a:off x="1143000" y="3017520"/>
            <a:ext cx="3058058" cy="2194560"/>
          </a:xfrm>
          <a:prstGeom prst="roundRect">
            <a:avLst>
              <a:gd name="adj" fmla="val 3333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25880" y="324612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0–30 DIAS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25880" y="356616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Preparação Premium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443429" y="411480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1325880" y="4297680"/>
            <a:ext cx="26922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 staging, fotografia profissional, tour 360°. Posicionamento 2–4% acima do VVR.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84368" y="2057400"/>
            <a:ext cx="822960" cy="8229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5684368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3800" dirty="0"/>
          </a:p>
        </p:txBody>
      </p:sp>
      <p:sp>
        <p:nvSpPr>
          <p:cNvPr id="21" name="Shape 18"/>
          <p:cNvSpPr/>
          <p:nvPr/>
        </p:nvSpPr>
        <p:spPr>
          <a:xfrm>
            <a:off x="4566818" y="3017520"/>
            <a:ext cx="3058058" cy="2194560"/>
          </a:xfrm>
          <a:prstGeom prst="roundRect">
            <a:avLst>
              <a:gd name="adj" fmla="val 3333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49698" y="324612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31–60 DIAS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49698" y="356616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Tático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67248" y="411480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2"/>
          <p:cNvSpPr/>
          <p:nvPr/>
        </p:nvSpPr>
        <p:spPr>
          <a:xfrm>
            <a:off x="4749698" y="4297680"/>
            <a:ext cx="26922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Aproximação ao Stress Moderado com ajustes táticos conforme procura.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108186" y="2057400"/>
            <a:ext cx="822960" cy="8229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9108186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3800" dirty="0"/>
          </a:p>
        </p:txBody>
      </p:sp>
      <p:sp>
        <p:nvSpPr>
          <p:cNvPr id="28" name="Shape 25"/>
          <p:cNvSpPr/>
          <p:nvPr/>
        </p:nvSpPr>
        <p:spPr>
          <a:xfrm>
            <a:off x="7990637" y="3017520"/>
            <a:ext cx="3058058" cy="2194560"/>
          </a:xfrm>
          <a:prstGeom prst="roundRect">
            <a:avLst>
              <a:gd name="adj" fmla="val 3333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73517" y="324612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61+ DIAS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73517" y="3566160"/>
            <a:ext cx="2692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Acelerador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291066" y="411480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9"/>
          <p:cNvSpPr/>
          <p:nvPr/>
        </p:nvSpPr>
        <p:spPr>
          <a:xfrm>
            <a:off x="8173517" y="4297680"/>
            <a:ext cx="26922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performer da rede + cláusula de redução máxima sem comprometer ROI mínimo.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5303520"/>
            <a:ext cx="11185855" cy="1371600"/>
          </a:xfrm>
          <a:prstGeom prst="roundRect">
            <a:avLst>
              <a:gd name="adj" fmla="val 6667"/>
            </a:avLst>
          </a:prstGeom>
          <a:solidFill>
            <a:srgbClr val="F5F3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10800000">
            <a:off x="868680" y="5577840"/>
            <a:ext cx="777240" cy="777240"/>
          </a:xfrm>
          <a:prstGeom prst="homePlate">
            <a:avLst/>
          </a:prstGeom>
          <a:solidFill>
            <a:srgbClr val="C9A84C"/>
          </a:solidFill>
          <a:ln/>
        </p:spPr>
      </p:sp>
      <p:sp>
        <p:nvSpPr>
          <p:cNvPr id="35" name="Text 32"/>
          <p:cNvSpPr/>
          <p:nvPr/>
        </p:nvSpPr>
        <p:spPr>
          <a:xfrm>
            <a:off x="868680" y="568756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</a:t>
            </a:r>
            <a:endParaRPr lang="en-US" sz="3200" dirty="0"/>
          </a:p>
        </p:txBody>
      </p:sp>
      <p:sp>
        <p:nvSpPr>
          <p:cNvPr id="36" name="Text 33"/>
          <p:cNvSpPr/>
          <p:nvPr/>
        </p:nvSpPr>
        <p:spPr>
          <a:xfrm>
            <a:off x="1783080" y="5486400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B  ·  REDE DE SEGURANÇA ABSOLUTA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783080" y="5806440"/>
            <a:ext cx="9722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 o preço passar a Linha Vermelha (Stress Severo), a venda é suspensa e o ativo pivota automaticamente para arrendamento — modelo validado a priori. ROI mínimo sempre protegido.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PILAR III  ·  TRANSPARÊNCIA TOTAL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Ecossistema 'Mãos-Livres'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02920" y="16002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total. Esforço nulo.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2194560"/>
            <a:ext cx="3545738" cy="3657600"/>
          </a:xfrm>
          <a:prstGeom prst="roundRect">
            <a:avLst>
              <a:gd name="adj" fmla="val 257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72869" y="2560320"/>
            <a:ext cx="1005840" cy="1005840"/>
          </a:xfrm>
          <a:prstGeom prst="ellipse">
            <a:avLst/>
          </a:prstGeom>
          <a:solidFill>
            <a:srgbClr val="F2E8C4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37461" y="2907792"/>
            <a:ext cx="676656" cy="329184"/>
          </a:xfrm>
          <a:prstGeom prst="ellipse">
            <a:avLst/>
          </a:prstGeom>
          <a:solidFill>
            <a:srgbClr val="FBF8EE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93493" y="2980944"/>
            <a:ext cx="164592" cy="164592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7490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" y="4069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Auditoria em Tempo Real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047189" y="46634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84632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Pasta cifrada com faturas, contabilidade e documentos legais — acesso vitalício.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978" y="2194560"/>
            <a:ext cx="3545738" cy="3657600"/>
          </a:xfrm>
          <a:prstGeom prst="roundRect">
            <a:avLst>
              <a:gd name="adj" fmla="val 257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92928" y="2560320"/>
            <a:ext cx="1005840" cy="1005840"/>
          </a:xfrm>
          <a:prstGeom prst="ellipse">
            <a:avLst/>
          </a:prstGeom>
          <a:solidFill>
            <a:srgbClr val="F2E8C4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75808" y="2788920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FBF8EE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5536" y="2953512"/>
            <a:ext cx="73152" cy="73152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4" name="Shape 21"/>
          <p:cNvSpPr/>
          <p:nvPr/>
        </p:nvSpPr>
        <p:spPr>
          <a:xfrm>
            <a:off x="6031840" y="2953512"/>
            <a:ext cx="73152" cy="73152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5" name="Shape 22"/>
          <p:cNvSpPr/>
          <p:nvPr/>
        </p:nvSpPr>
        <p:spPr>
          <a:xfrm>
            <a:off x="6178144" y="2953512"/>
            <a:ext cx="73152" cy="73152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6" name="Shape 23"/>
          <p:cNvSpPr/>
          <p:nvPr/>
        </p:nvSpPr>
        <p:spPr>
          <a:xfrm>
            <a:off x="5885536" y="3200400"/>
            <a:ext cx="146304" cy="128016"/>
          </a:xfrm>
          <a:prstGeom prst="rtTriangle">
            <a:avLst/>
          </a:prstGeom>
          <a:solidFill>
            <a:srgbClr val="FBF8EE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97298" y="37490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97298" y="4069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Comunicação Sem Ruído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867248" y="46634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7"/>
          <p:cNvSpPr/>
          <p:nvPr/>
        </p:nvSpPr>
        <p:spPr>
          <a:xfrm>
            <a:off x="4688738" y="484632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Canal dedicado ao seu negócio. Atualizações diárias diretas com a liderança.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143037" y="2194560"/>
            <a:ext cx="3545738" cy="3657600"/>
          </a:xfrm>
          <a:prstGeom prst="roundRect">
            <a:avLst>
              <a:gd name="adj" fmla="val 2579"/>
            </a:avLst>
          </a:prstGeom>
          <a:solidFill>
            <a:srgbClr val="FBF8EE"/>
          </a:solidFill>
          <a:ln w="9525">
            <a:solidFill>
              <a:srgbClr val="ECE7D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412986" y="2560320"/>
            <a:ext cx="1005840" cy="1005840"/>
          </a:xfrm>
          <a:prstGeom prst="ellipse">
            <a:avLst/>
          </a:prstGeom>
          <a:solidFill>
            <a:srgbClr val="F2E8C4"/>
          </a:solidFill>
          <a:ln w="15875">
            <a:solidFill>
              <a:srgbClr val="C9A84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77578" y="2852928"/>
            <a:ext cx="676656" cy="457200"/>
          </a:xfrm>
          <a:prstGeom prst="roundRect">
            <a:avLst>
              <a:gd name="adj" fmla="val 10000"/>
            </a:avLst>
          </a:prstGeom>
          <a:solidFill>
            <a:srgbClr val="FBF8EE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97034" y="2779776"/>
            <a:ext cx="237744" cy="10972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5" name="Shape 32"/>
          <p:cNvSpPr/>
          <p:nvPr/>
        </p:nvSpPr>
        <p:spPr>
          <a:xfrm>
            <a:off x="9797034" y="2944368"/>
            <a:ext cx="237744" cy="237744"/>
          </a:xfrm>
          <a:prstGeom prst="ellipse">
            <a:avLst/>
          </a:prstGeom>
          <a:solidFill>
            <a:srgbClr val="FBF8EE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61042" y="2999232"/>
            <a:ext cx="109728" cy="109728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7" name="Text 34"/>
          <p:cNvSpPr/>
          <p:nvPr/>
        </p:nvSpPr>
        <p:spPr>
          <a:xfrm>
            <a:off x="8417357" y="37490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417357" y="4069080"/>
            <a:ext cx="2997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Relatórios Visuais de Obra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687306" y="466344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7"/>
          <p:cNvSpPr/>
          <p:nvPr/>
        </p:nvSpPr>
        <p:spPr>
          <a:xfrm>
            <a:off x="8508797" y="4846320"/>
            <a:ext cx="28142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Fotografias e vídeos semanais em alta resolução. Acompanhe sem visitar o estaleiro.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ALINHAMENTO DE INTERESSES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 Investidor  ·  50% Somnium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632808" y="1874520"/>
            <a:ext cx="2377440" cy="2377440"/>
          </a:xfrm>
          <a:prstGeom prst="ellipse">
            <a:avLst/>
          </a:prstGeom>
          <a:solidFill>
            <a:srgbClr val="F2E8C4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81448" y="1874520"/>
            <a:ext cx="2377440" cy="2377440"/>
          </a:xfrm>
          <a:prstGeom prst="ellipse">
            <a:avLst/>
          </a:prstGeom>
          <a:solidFill>
            <a:srgbClr val="C9A84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8408" y="21945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7200" dirty="0"/>
          </a:p>
        </p:txBody>
      </p:sp>
      <p:sp>
        <p:nvSpPr>
          <p:cNvPr id="14" name="Text 11"/>
          <p:cNvSpPr/>
          <p:nvPr/>
        </p:nvSpPr>
        <p:spPr>
          <a:xfrm>
            <a:off x="6461608" y="2194560"/>
            <a:ext cx="1664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3718408" y="33375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Investidor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61608" y="33375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Somnium Properties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18408" y="37033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Alocação de Capital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61608" y="37033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BF8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· Execução · Risco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4800600"/>
            <a:ext cx="11185855" cy="1371600"/>
          </a:xfrm>
          <a:prstGeom prst="roundRect">
            <a:avLst>
              <a:gd name="adj" fmla="val 6667"/>
            </a:avLst>
          </a:prstGeom>
          <a:solidFill>
            <a:srgbClr val="F5F3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4800600"/>
            <a:ext cx="54864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Shape 18"/>
          <p:cNvSpPr/>
          <p:nvPr/>
        </p:nvSpPr>
        <p:spPr>
          <a:xfrm>
            <a:off x="914400" y="5166360"/>
            <a:ext cx="640080" cy="640080"/>
          </a:xfrm>
          <a:prstGeom prst="star5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4983480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CO-INVESTIMENTO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783080" y="5303520"/>
            <a:ext cx="9722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Somnium investe sempre o seu próprio capital nos projetos. Só abrimos espaço a parceiros depois da nossa própria validação financeira.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4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"/>
            <a:ext cx="77724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310896"/>
            <a:ext cx="88998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RESUMO EXECUTIVO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00055" y="310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640080"/>
            <a:ext cx="11185855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Confidencial · Somnium Properties · Investimento Imobiliário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02920" y="868680"/>
            <a:ext cx="111858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Oportunidade Somnium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17373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737360"/>
            <a:ext cx="354573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103120"/>
            <a:ext cx="35457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3000" dirty="0"/>
          </a:p>
        </p:txBody>
      </p:sp>
      <p:sp>
        <p:nvSpPr>
          <p:cNvPr id="14" name="Text 11"/>
          <p:cNvSpPr/>
          <p:nvPr/>
        </p:nvSpPr>
        <p:spPr>
          <a:xfrm>
            <a:off x="502920" y="3931920"/>
            <a:ext cx="354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Segurança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02920" y="4434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 IMPROVISO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47189" y="480060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98348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MAO validado e Stress Tests severos antes de cada decisão.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22978" y="17373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22978" y="1737360"/>
            <a:ext cx="354573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7"/>
          <p:cNvSpPr/>
          <p:nvPr/>
        </p:nvSpPr>
        <p:spPr>
          <a:xfrm>
            <a:off x="4322978" y="2103120"/>
            <a:ext cx="35457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3000" dirty="0"/>
          </a:p>
        </p:txBody>
      </p:sp>
      <p:sp>
        <p:nvSpPr>
          <p:cNvPr id="21" name="Text 18"/>
          <p:cNvSpPr/>
          <p:nvPr/>
        </p:nvSpPr>
        <p:spPr>
          <a:xfrm>
            <a:off x="4322978" y="3931920"/>
            <a:ext cx="354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Rentabilidade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322978" y="4434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OTIMIZADA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67248" y="480060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1"/>
          <p:cNvSpPr/>
          <p:nvPr/>
        </p:nvSpPr>
        <p:spPr>
          <a:xfrm>
            <a:off x="4688738" y="498348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Saída tática pré-definida (SOP 10) com Plano B de arrendamento.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43037" y="1737360"/>
            <a:ext cx="3545738" cy="4297680"/>
          </a:xfrm>
          <a:prstGeom prst="roundRect">
            <a:avLst>
              <a:gd name="adj" fmla="val 3095"/>
            </a:avLst>
          </a:prstGeom>
          <a:solidFill>
            <a:srgbClr val="FBF8E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43037" y="1737360"/>
            <a:ext cx="3545738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4"/>
          <p:cNvSpPr/>
          <p:nvPr/>
        </p:nvSpPr>
        <p:spPr>
          <a:xfrm>
            <a:off x="8143037" y="2103120"/>
            <a:ext cx="35457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3000" dirty="0"/>
          </a:p>
        </p:txBody>
      </p:sp>
      <p:sp>
        <p:nvSpPr>
          <p:cNvPr id="28" name="Text 25"/>
          <p:cNvSpPr/>
          <p:nvPr/>
        </p:nvSpPr>
        <p:spPr>
          <a:xfrm>
            <a:off x="8143037" y="3931920"/>
            <a:ext cx="354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Transparência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8143037" y="4434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INSTITUCIONAL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687306" y="4800600"/>
            <a:ext cx="45720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8"/>
          <p:cNvSpPr/>
          <p:nvPr/>
        </p:nvSpPr>
        <p:spPr>
          <a:xfrm>
            <a:off x="8508797" y="4983480"/>
            <a:ext cx="2814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digital total — controlo absoluto, esforço nulo.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9420"/>
            <a:ext cx="12191695" cy="685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41148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41148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11505895" y="41148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11894515" y="41148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642366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603504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Shape 8"/>
          <p:cNvSpPr/>
          <p:nvPr/>
        </p:nvSpPr>
        <p:spPr>
          <a:xfrm>
            <a:off x="11505895" y="6423660"/>
            <a:ext cx="411480" cy="228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Shape 9"/>
          <p:cNvSpPr/>
          <p:nvPr/>
        </p:nvSpPr>
        <p:spPr>
          <a:xfrm>
            <a:off x="11894515" y="6035040"/>
            <a:ext cx="22860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1261872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7" name="Shape 15"/>
          <p:cNvSpPr/>
          <p:nvPr/>
        </p:nvSpPr>
        <p:spPr>
          <a:xfrm>
            <a:off x="1463040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8" name="Shape 16"/>
          <p:cNvSpPr/>
          <p:nvPr/>
        </p:nvSpPr>
        <p:spPr>
          <a:xfrm>
            <a:off x="1664208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19" name="Shape 17"/>
          <p:cNvSpPr/>
          <p:nvPr/>
        </p:nvSpPr>
        <p:spPr>
          <a:xfrm>
            <a:off x="1865376" y="9144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536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0704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4" name="Shape 22"/>
          <p:cNvSpPr/>
          <p:nvPr/>
        </p:nvSpPr>
        <p:spPr>
          <a:xfrm>
            <a:off x="1261872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5" name="Shape 23"/>
          <p:cNvSpPr/>
          <p:nvPr/>
        </p:nvSpPr>
        <p:spPr>
          <a:xfrm>
            <a:off x="1463040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6" name="Shape 24"/>
          <p:cNvSpPr/>
          <p:nvPr/>
        </p:nvSpPr>
        <p:spPr>
          <a:xfrm>
            <a:off x="1664208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7" name="Shape 25"/>
          <p:cNvSpPr/>
          <p:nvPr/>
        </p:nvSpPr>
        <p:spPr>
          <a:xfrm>
            <a:off x="1865376" y="11155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0" name="Shape 28"/>
          <p:cNvSpPr/>
          <p:nvPr/>
        </p:nvSpPr>
        <p:spPr>
          <a:xfrm>
            <a:off x="859536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0704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1872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3" name="Shape 31"/>
          <p:cNvSpPr/>
          <p:nvPr/>
        </p:nvSpPr>
        <p:spPr>
          <a:xfrm>
            <a:off x="1463040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4" name="Shape 32"/>
          <p:cNvSpPr/>
          <p:nvPr/>
        </p:nvSpPr>
        <p:spPr>
          <a:xfrm>
            <a:off x="1664208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5" name="Shape 33"/>
          <p:cNvSpPr/>
          <p:nvPr/>
        </p:nvSpPr>
        <p:spPr>
          <a:xfrm>
            <a:off x="1865376" y="13167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8" name="Shape 36"/>
          <p:cNvSpPr/>
          <p:nvPr/>
        </p:nvSpPr>
        <p:spPr>
          <a:xfrm>
            <a:off x="859536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0" name="Shape 38"/>
          <p:cNvSpPr/>
          <p:nvPr/>
        </p:nvSpPr>
        <p:spPr>
          <a:xfrm>
            <a:off x="1261872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1" name="Shape 39"/>
          <p:cNvSpPr/>
          <p:nvPr/>
        </p:nvSpPr>
        <p:spPr>
          <a:xfrm>
            <a:off x="1463040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2" name="Shape 40"/>
          <p:cNvSpPr/>
          <p:nvPr/>
        </p:nvSpPr>
        <p:spPr>
          <a:xfrm>
            <a:off x="1664208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3" name="Shape 41"/>
          <p:cNvSpPr/>
          <p:nvPr/>
        </p:nvSpPr>
        <p:spPr>
          <a:xfrm>
            <a:off x="1865376" y="15179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368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6" name="Shape 44"/>
          <p:cNvSpPr/>
          <p:nvPr/>
        </p:nvSpPr>
        <p:spPr>
          <a:xfrm>
            <a:off x="859536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8" name="Shape 46"/>
          <p:cNvSpPr/>
          <p:nvPr/>
        </p:nvSpPr>
        <p:spPr>
          <a:xfrm>
            <a:off x="1261872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49" name="Shape 47"/>
          <p:cNvSpPr/>
          <p:nvPr/>
        </p:nvSpPr>
        <p:spPr>
          <a:xfrm>
            <a:off x="1463040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0" name="Shape 48"/>
          <p:cNvSpPr/>
          <p:nvPr/>
        </p:nvSpPr>
        <p:spPr>
          <a:xfrm>
            <a:off x="1664208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1" name="Shape 49"/>
          <p:cNvSpPr/>
          <p:nvPr/>
        </p:nvSpPr>
        <p:spPr>
          <a:xfrm>
            <a:off x="1865376" y="17190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2" name="Shape 50"/>
          <p:cNvSpPr/>
          <p:nvPr/>
        </p:nvSpPr>
        <p:spPr>
          <a:xfrm>
            <a:off x="10088575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89743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90911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92079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93247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7" name="Shape 55"/>
          <p:cNvSpPr/>
          <p:nvPr/>
        </p:nvSpPr>
        <p:spPr>
          <a:xfrm>
            <a:off x="11094415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8" name="Shape 56"/>
          <p:cNvSpPr/>
          <p:nvPr/>
        </p:nvSpPr>
        <p:spPr>
          <a:xfrm>
            <a:off x="11295583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96751" y="5029200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0" name="Shape 58"/>
          <p:cNvSpPr/>
          <p:nvPr/>
        </p:nvSpPr>
        <p:spPr>
          <a:xfrm>
            <a:off x="10088575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89743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2" name="Shape 60"/>
          <p:cNvSpPr/>
          <p:nvPr/>
        </p:nvSpPr>
        <p:spPr>
          <a:xfrm>
            <a:off x="10490911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692079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893247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94415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6" name="Shape 64"/>
          <p:cNvSpPr/>
          <p:nvPr/>
        </p:nvSpPr>
        <p:spPr>
          <a:xfrm>
            <a:off x="11295583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96751" y="5230368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88575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69" name="Shape 67"/>
          <p:cNvSpPr/>
          <p:nvPr/>
        </p:nvSpPr>
        <p:spPr>
          <a:xfrm>
            <a:off x="10289743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0" name="Shape 68"/>
          <p:cNvSpPr/>
          <p:nvPr/>
        </p:nvSpPr>
        <p:spPr>
          <a:xfrm>
            <a:off x="10490911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1" name="Shape 69"/>
          <p:cNvSpPr/>
          <p:nvPr/>
        </p:nvSpPr>
        <p:spPr>
          <a:xfrm>
            <a:off x="10692079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2" name="Shape 70"/>
          <p:cNvSpPr/>
          <p:nvPr/>
        </p:nvSpPr>
        <p:spPr>
          <a:xfrm>
            <a:off x="10893247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3" name="Shape 71"/>
          <p:cNvSpPr/>
          <p:nvPr/>
        </p:nvSpPr>
        <p:spPr>
          <a:xfrm>
            <a:off x="11094415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4" name="Shape 72"/>
          <p:cNvSpPr/>
          <p:nvPr/>
        </p:nvSpPr>
        <p:spPr>
          <a:xfrm>
            <a:off x="11295583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5" name="Shape 73"/>
          <p:cNvSpPr/>
          <p:nvPr/>
        </p:nvSpPr>
        <p:spPr>
          <a:xfrm>
            <a:off x="11496751" y="5431536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6" name="Shape 74"/>
          <p:cNvSpPr/>
          <p:nvPr/>
        </p:nvSpPr>
        <p:spPr>
          <a:xfrm>
            <a:off x="10088575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7" name="Shape 75"/>
          <p:cNvSpPr/>
          <p:nvPr/>
        </p:nvSpPr>
        <p:spPr>
          <a:xfrm>
            <a:off x="10289743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490911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79" name="Shape 77"/>
          <p:cNvSpPr/>
          <p:nvPr/>
        </p:nvSpPr>
        <p:spPr>
          <a:xfrm>
            <a:off x="10692079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0" name="Shape 78"/>
          <p:cNvSpPr/>
          <p:nvPr/>
        </p:nvSpPr>
        <p:spPr>
          <a:xfrm>
            <a:off x="10893247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1" name="Shape 79"/>
          <p:cNvSpPr/>
          <p:nvPr/>
        </p:nvSpPr>
        <p:spPr>
          <a:xfrm>
            <a:off x="11094415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2" name="Shape 80"/>
          <p:cNvSpPr/>
          <p:nvPr/>
        </p:nvSpPr>
        <p:spPr>
          <a:xfrm>
            <a:off x="11295583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3" name="Shape 81"/>
          <p:cNvSpPr/>
          <p:nvPr/>
        </p:nvSpPr>
        <p:spPr>
          <a:xfrm>
            <a:off x="11496751" y="5632704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4" name="Shape 82"/>
          <p:cNvSpPr/>
          <p:nvPr/>
        </p:nvSpPr>
        <p:spPr>
          <a:xfrm>
            <a:off x="10088575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5" name="Shape 83"/>
          <p:cNvSpPr/>
          <p:nvPr/>
        </p:nvSpPr>
        <p:spPr>
          <a:xfrm>
            <a:off x="10289743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6" name="Shape 84"/>
          <p:cNvSpPr/>
          <p:nvPr/>
        </p:nvSpPr>
        <p:spPr>
          <a:xfrm>
            <a:off x="10490911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7" name="Shape 85"/>
          <p:cNvSpPr/>
          <p:nvPr/>
        </p:nvSpPr>
        <p:spPr>
          <a:xfrm>
            <a:off x="10692079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8" name="Shape 86"/>
          <p:cNvSpPr/>
          <p:nvPr/>
        </p:nvSpPr>
        <p:spPr>
          <a:xfrm>
            <a:off x="10893247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89" name="Shape 87"/>
          <p:cNvSpPr/>
          <p:nvPr/>
        </p:nvSpPr>
        <p:spPr>
          <a:xfrm>
            <a:off x="11094415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0" name="Shape 88"/>
          <p:cNvSpPr/>
          <p:nvPr/>
        </p:nvSpPr>
        <p:spPr>
          <a:xfrm>
            <a:off x="11295583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sp>
        <p:nvSpPr>
          <p:cNvPr id="91" name="Shape 89"/>
          <p:cNvSpPr/>
          <p:nvPr/>
        </p:nvSpPr>
        <p:spPr>
          <a:xfrm>
            <a:off x="11496751" y="5833872"/>
            <a:ext cx="36576" cy="36576"/>
          </a:xfrm>
          <a:prstGeom prst="ellipse">
            <a:avLst/>
          </a:prstGeom>
          <a:solidFill>
            <a:srgbClr val="F2E8C4"/>
          </a:solidFill>
          <a:ln/>
        </p:spPr>
      </p:sp>
      <p:pic>
        <p:nvPicPr>
          <p:cNvPr id="92" name="Image 0" descr="/home/user/SomniumProperties-Dashboard/public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960120"/>
            <a:ext cx="3657600" cy="1481376"/>
          </a:xfrm>
          <a:prstGeom prst="rect">
            <a:avLst/>
          </a:prstGeom>
        </p:spPr>
      </p:pic>
      <p:sp>
        <p:nvSpPr>
          <p:cNvPr id="93" name="Shape 90"/>
          <p:cNvSpPr/>
          <p:nvPr/>
        </p:nvSpPr>
        <p:spPr>
          <a:xfrm>
            <a:off x="2331720" y="2852976"/>
            <a:ext cx="75282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4" name="Shape 91"/>
          <p:cNvSpPr/>
          <p:nvPr/>
        </p:nvSpPr>
        <p:spPr>
          <a:xfrm>
            <a:off x="6031840" y="2820972"/>
            <a:ext cx="128016" cy="128016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95" name="Text 92"/>
          <p:cNvSpPr/>
          <p:nvPr/>
        </p:nvSpPr>
        <p:spPr>
          <a:xfrm>
            <a:off x="502920" y="3081576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Construa um Portfólio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Dores de Cabeça.</a:t>
            </a:r>
            <a:endParaRPr lang="en-US" sz="4400" dirty="0"/>
          </a:p>
        </p:txBody>
      </p:sp>
      <p:sp>
        <p:nvSpPr>
          <p:cNvPr id="96" name="Text 93"/>
          <p:cNvSpPr/>
          <p:nvPr/>
        </p:nvSpPr>
        <p:spPr>
          <a:xfrm>
            <a:off x="1874520" y="4636056"/>
            <a:ext cx="8442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Junte-se ao grupo restrito de investidores passivos e deixe o rigor clínico proteger o seu capital.</a:t>
            </a:r>
            <a:endParaRPr lang="en-US" sz="1300" dirty="0"/>
          </a:p>
        </p:txBody>
      </p:sp>
      <p:sp>
        <p:nvSpPr>
          <p:cNvPr id="97" name="Shape 94"/>
          <p:cNvSpPr/>
          <p:nvPr/>
        </p:nvSpPr>
        <p:spPr>
          <a:xfrm>
            <a:off x="4998568" y="5367576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C9A84C"/>
          </a:solidFill>
          <a:ln/>
        </p:spPr>
      </p:sp>
      <p:sp>
        <p:nvSpPr>
          <p:cNvPr id="98" name="Text 95"/>
          <p:cNvSpPr/>
          <p:nvPr/>
        </p:nvSpPr>
        <p:spPr>
          <a:xfrm>
            <a:off x="4998568" y="536757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D0D0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AGENDAR REUNIÃO</a:t>
            </a:r>
            <a:endParaRPr lang="en-US" sz="1300" dirty="0"/>
          </a:p>
        </p:txBody>
      </p:sp>
      <p:sp>
        <p:nvSpPr>
          <p:cNvPr id="99" name="Text 96"/>
          <p:cNvSpPr/>
          <p:nvPr/>
        </p:nvSpPr>
        <p:spPr>
          <a:xfrm>
            <a:off x="502920" y="637341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geral@somniumproperties.pt    ·    www.somniumproperties.pt</a:t>
            </a:r>
            <a:endParaRPr lang="en-US" sz="1200" dirty="0"/>
          </a:p>
        </p:txBody>
      </p:sp>
      <p:sp>
        <p:nvSpPr>
          <p:cNvPr id="100" name="Text 97"/>
          <p:cNvSpPr/>
          <p:nvPr/>
        </p:nvSpPr>
        <p:spPr>
          <a:xfrm>
            <a:off x="502920" y="6693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Alexandre Mendes  ·  João Abreu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502920" y="6355080"/>
            <a:ext cx="11185855" cy="731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2" name="Text 99"/>
          <p:cNvSpPr/>
          <p:nvPr/>
        </p:nvSpPr>
        <p:spPr>
          <a:xfrm>
            <a:off x="502920" y="6464808"/>
            <a:ext cx="111858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Documento Confidencial · Somnium Properties · Investimento Imobiliário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Somnium Properties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 Investidores — 2026</dc:title>
  <dc:subject>PptxGenJS Presentation</dc:subject>
  <dc:creator>Somnium Properties</dc:creator>
  <cp:lastModifiedBy>Somnium Properties</cp:lastModifiedBy>
  <cp:revision>1</cp:revision>
  <dcterms:created xsi:type="dcterms:W3CDTF">2026-05-07T17:11:43Z</dcterms:created>
  <dcterms:modified xsi:type="dcterms:W3CDTF">2026-05-07T17:11:43Z</dcterms:modified>
</cp:coreProperties>
</file>