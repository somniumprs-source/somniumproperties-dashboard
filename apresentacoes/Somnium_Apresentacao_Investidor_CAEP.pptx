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3291840" cy="1335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 INVESTIDOR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Disciplina clínica.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 de operação.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com retorno.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5943600"/>
            <a:ext cx="5486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Porto  ·  Maio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TRABALHOS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vamos estruturar esta conversa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nossa equipa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0545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514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investidor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empresa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e modelo operacional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Somnium e tecnologia interna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26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5262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prático em curso — T2 Condeixa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29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5029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fecho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5522976"/>
            <a:ext cx="1051560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NOSSA EQUIPA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disciplinas, um único standard de execução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694176" cy="411480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" cy="4114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Mendes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a tempo inteiro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31912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Originação e qualificação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relação com investidores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 e CAEP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920240"/>
            <a:ext cx="3694176" cy="411480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920240"/>
            <a:ext cx="54864" cy="4114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4884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João Abreu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8803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a tempo inteiro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33756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520440"/>
            <a:ext cx="31912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 rede de consultores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SOPs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 compliance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920240"/>
            <a:ext cx="3694176" cy="411480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920240"/>
            <a:ext cx="54864" cy="4114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14884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Luís Pedro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95360" y="25603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estratégico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288036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Obras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333756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3520440"/>
            <a:ext cx="31912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a materiais (preço de origem)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técnica de obra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validada de empreiteiros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"Aplicamos ao imobiliário a mesma disciplina, ética e rigor que aplicamos diariamente em ambiente clínico."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INVESTIDOR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avançarmos, gostaríamos de conhecê-lo melhor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profissional e percurso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196596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96596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196596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prévia em investimento (imobiliário e outros)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4320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para esta alocação de capital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81928" y="274320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274320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274320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temporal e perfil de liquidez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2044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20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52044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Apetite e tolerância ao risco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81928" y="3520440"/>
            <a:ext cx="5541264" cy="6400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3520440"/>
            <a:ext cx="54864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520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59168" y="352044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de envolvimento e reporting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Espaço dedicado ao diálogo — sem agenda fechada.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Somnium Properties — identidade e perímetro de atuação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 portuguesa dedicada a investimento imobiliário nos modelos buy-renovate-sell e buy-renovate-rent, com sede operacional no Porto e atuação centrada em Coimbra.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iniciada em wholesalling para validar rede e SOPs. Hoje, escalamos para CAEP — operações maiores, com investidores passivos e retornos partilhados.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011680"/>
            <a:ext cx="2286000" cy="1645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01168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408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operacional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0" y="2011680"/>
            <a:ext cx="2286000" cy="1645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201168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Coimbra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5097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Mercado-alvo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840480"/>
            <a:ext cx="2286000" cy="1645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84048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250 000€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por imóvel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3840480"/>
            <a:ext cx="2286000" cy="16459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84048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CAEP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0976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atual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Geografias-alvo: Concelho de Coimbra  ·  Condeixa-a-Nova  ·  Ventosa do Bairro (Mealhada)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INVESTIMENTO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Porquê Coimbra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constante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universitário com fluxo permanente de arrendamento (Universidade de Coimbra).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Imóveis sub-valorizados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com potencial de valorização via renovação em zonas-alvo conhecidas.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Incentivos fiscais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jovens, Imposto de Selo e regime de mais-valias favoráveis.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Liquidez de saída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Tipologias e tickets bem absorvidos pelo mercado local.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Conhecimento das zonas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91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Clara, Condeixa, Cernache e Mealhada — análise micro-mercado dedicada.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controlado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máximo de 250.000€ por aquisição protege o portefólio.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EMPRESA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Sociedade enxuta com departamentos dedicados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694176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Mendes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694176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1168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João Abreu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920240"/>
            <a:ext cx="3694176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01168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Luís Pedro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23774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· Gestão de Obras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743200" cy="141732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040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contratos, fiscal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3200400"/>
            <a:ext cx="2743200" cy="141732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320040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85032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Investidores · Consultores · Pipeline · Projetos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64224" y="3200400"/>
            <a:ext cx="2743200" cy="141732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320040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92824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tesouraria, reporting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2016" y="3200400"/>
            <a:ext cx="2743200" cy="141732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3200400"/>
            <a:ext cx="54864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0616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Formação interna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00616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onboarding, atualização contínua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FBF8EE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66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CAEP — até 5 investidores passivos por operação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fracionáveis ou completas, com termos definidos individualmente em contrato.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de Associação em Participação — como funciona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74320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pelo investidor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74320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965960"/>
            <a:ext cx="54864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/ 60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85032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Somnium / Investidor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65960"/>
            <a:ext cx="274320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965960"/>
            <a:ext cx="54864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92824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por operação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1965960"/>
            <a:ext cx="274320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72016" y="1965960"/>
            <a:ext cx="54864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0616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25–50k€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0616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mínimo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Enquadramento legal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em Participação (Código Comercial)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56/2023 (alojamento e arrendamento)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do Estado 2024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Papéis e responsabilidades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Investidor: 100% do capital (compra + obra + custos)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Somnium: originação, qualificação, compra, obra, saída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retorno do capital + parte do lucro contratualizada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retornos efetivos são calculados operação a operação na App Somnium. Não apresentamos números fictícios.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OPERACIONAL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SOPs, classes de consultores e automação inteligente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documentados em uso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1 — Pesquisa de Negócios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4 — Análise Financeira e Estudo de Mercado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5 — Visita de Qualificação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6 — Documentação Mínima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7 — Orçamentação (≥3 empreiteiros)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10 — Apresentação a Investidor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11 — Onboarding de Investidor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 de consultores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457200" cy="4114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— contacto humano direto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880360"/>
            <a:ext cx="457200" cy="4114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— contacto humano regular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383280"/>
            <a:ext cx="457200" cy="4114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383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 — automação WhatsApp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457200" cy="4114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86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atividade — automação WhatsApp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3212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052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WhatsApp · Follow-up automatizado de consultores C/D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consistente sem consumir tempo dos sócios — captura oportunidades que de outra forma se perderiam.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SOMNIUM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 proprietária — análise quantitativa antes de cada decisão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694176" cy="169164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Calculadora de Investimento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Compra, IMT, IS, obra, venda, lucro bruto e líquido, ROI, ROI anualizado.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694176" cy="169164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65960"/>
            <a:ext cx="54864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48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88036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moderado e severo aplicados automaticamente antes da decisão.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694176" cy="169164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54864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148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24231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Comparáveis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2880360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VVR validado por método comparativo cruzado com método de rendimento.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694176" cy="169164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416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31596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Tabelas Fiscais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773168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IMT, IS, mais-valias, regime jovens, OE 2024, Lei 56/2023 atualizadas.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858768"/>
            <a:ext cx="3694176" cy="169164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3858768"/>
            <a:ext cx="54864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0416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31596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Simulador CAEP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773168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resultados Somnium / Investidor para cada operação concreta.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investidor passivo tem acesso direto às simulações da sua operação na app.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AQUISIÇÃO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funil ao fecho — funcionamento real do SOP 1 ao SOP 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Originação por consultores e rede própria (SOP 1).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9696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9696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6856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76856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Mín. 2 de 3 critérios: equity, obra, pressão de venda.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67912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67912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comparáveis, VVR, MAO 64% / 70% (SOP 4).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21808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58968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obrigatório; severo simulado.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12864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12864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0024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0024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Commitment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50024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comprometido por escrito antes do CPCV.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41080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&amp; Obra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41080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técnica, orçamentação ≥3 (SOP 5, 7).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94976" y="2011680"/>
            <a:ext cx="1545336" cy="40233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94976" y="2011680"/>
            <a:ext cx="154533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32136" y="2194560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32136" y="2514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Saída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32136" y="3154680"/>
            <a:ext cx="1271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ou arrendamento conforme tese da operação.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Negócio só avança se sobreviver ao stress test moderado.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PRÁTICO EM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 Condeixa — wholesalling em fase de obras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Cernache · Concelho de Coimbra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  ·  ABP 70 m²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Price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130.000 €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 por consultores parceiros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Wholesalling — cedência de posição contratual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prevista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2.800 – 3.000 €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47141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fase de obras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82896"/>
            <a:ext cx="6309360" cy="9144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011680"/>
            <a:ext cx="4325112" cy="40233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011680"/>
            <a:ext cx="432511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este caso demonstra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3800" y="26974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originação e qualificação real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em uso da pesquisa ao fecho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 ativo aceitou a operação em janeiro de 2025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ainda não concluída — transparência total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validada que justifica a transição para CAEP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Wholesalling para CAEP — porque agora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541264" cy="4114800"/>
          </a:xfrm>
          <a:prstGeom prst="rect">
            <a:avLst/>
          </a:prstGeom>
          <a:solidFill>
            <a:srgbClr val="FBF8EE"/>
          </a:solidFill>
          <a:ln w="12700">
            <a:solidFill>
              <a:srgbClr val="FBF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541264" cy="54864"/>
          </a:xfrm>
          <a:prstGeom prst="rect">
            <a:avLst/>
          </a:prstGeom>
          <a:solidFill>
            <a:srgbClr val="8C8470"/>
          </a:solidFill>
          <a:ln w="12700">
            <a:solidFill>
              <a:srgbClr val="8C8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validação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Wholesalling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548640" cy="27432"/>
          </a:xfrm>
          <a:prstGeom prst="rect">
            <a:avLst/>
          </a:prstGeom>
          <a:solidFill>
            <a:srgbClr val="8C8470"/>
          </a:solidFill>
          <a:ln w="12700">
            <a:solidFill>
              <a:srgbClr val="8C84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91840"/>
            <a:ext cx="4992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Cedência de posição contratual a investidores ativos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 rede de originação sem expor capital alheio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de SOPs em operações reais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relação com consultores e proprietários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1928" y="1965960"/>
            <a:ext cx="5541264" cy="41148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965960"/>
            <a:ext cx="55412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194560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escala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1968" y="2514600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CAEP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601968" y="3108960"/>
            <a:ext cx="548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291840"/>
            <a:ext cx="4992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maiores com capital de investidores passivos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partilhados via Associação em Participação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 SOPs já validados em campo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consultores e empreiteiros estabelecida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escala faz-se sobre uma base provada — não sobre uma promessa.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Limites, stress tests e Capital Commitment Policy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Diversificação geográfica controlada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micro-mercados conhecidos a fundo.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965960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965960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14884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 máximo por aquisição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56248" y="260604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250.000€ por imóvel — controla o risco de cada operação.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10712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9359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tests obrigatórios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050792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(VVR −10%, obra +10%, +3 meses) e Severo (VVR −20%, obra +20%, +6 meses).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81928" y="3410712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3410712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359359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 por SOP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56248" y="4050792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 e técnica documentada antes de cada decisão.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55464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383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 operacionais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495544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contingência por operação.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81928" y="4855464"/>
            <a:ext cx="5541264" cy="128016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4855464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50383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Commitment Policy 70%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56248" y="5495544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 capital comprometido por escrito antes de assinar CPCV.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AO INVESTIDOR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Cadência estruturada e canais definidos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 mensal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Estruturado, com KPIs operacionais e financeiros.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partilhada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dedicada ao investidor com toda a documentação.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24688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Updates de obra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297180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Fotografias antes / durante / depois em cada milestone.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Reuniões de seguimento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Agendadas em calendário com pauta definida.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Comunicação proativa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aceite, escritura, milestones de obra, venda.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4160520"/>
            <a:ext cx="3694176" cy="2011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160520"/>
            <a:ext cx="54864" cy="2011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4343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0" y="46634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Somnium — acesso direto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95360" y="516636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Simulações da operação disponíveis em qualquer momento.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avançamos a partir desta conversa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22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11091672" cy="868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 de termos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do ticket, horizonte temporal e expectativas de envolvimento.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868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operação concreta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3383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oportunidade qualificada com simulação CAEP completa na App.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868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8620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CAEP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jurídica da operação e Capital Commitment de 70%.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868680"/>
          </a:xfrm>
          <a:prstGeom prst="rect">
            <a:avLst/>
          </a:prstGeom>
          <a:solidFill>
            <a:srgbClr val="FBF8EE"/>
          </a:solidFill>
          <a:ln w="6350">
            <a:solidFill>
              <a:srgbClr val="DCD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46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4965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Execução e reporting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8308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em curso com cadência de reporting acordada.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10973"/>
          </a:xfrm>
          <a:prstGeom prst="rect">
            <a:avLst/>
          </a:prstGeom>
          <a:solidFill>
            <a:srgbClr val="DCD2B6"/>
          </a:solidFill>
          <a:ln w="12700">
            <a:solidFill>
              <a:srgbClr val="DCD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Apresentação a Investidor  ·  Maio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user/SomniumProperties-Dashboard/public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2743200" cy="1106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Disponíveis para responder a qualquer questão.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4114800"/>
            <a:ext cx="338328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4114800"/>
            <a:ext cx="3383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Mendes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geral@somniumproperties.pt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4114800"/>
            <a:ext cx="338328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4114800"/>
            <a:ext cx="3383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João Abreu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Sócio-gerente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geral@somniumproperties.pt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4114800"/>
            <a:ext cx="338328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4114800"/>
            <a:ext cx="3383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Luís Pedro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1248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· Gestão de Obras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41248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geral@somniumproperties.pt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C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Somnium Properties  ·  Porto, Portugal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Somnium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Investidor — Somnium Properties</dc:title>
  <dc:subject>PptxGenJS Presentation</dc:subject>
  <dc:creator>Somnium Properties</dc:creator>
  <cp:lastModifiedBy>Somnium Properties</cp:lastModifiedBy>
  <cp:revision>1</cp:revision>
  <dcterms:created xsi:type="dcterms:W3CDTF">2026-05-07T13:56:08Z</dcterms:created>
  <dcterms:modified xsi:type="dcterms:W3CDTF">2026-05-07T13:56:08Z</dcterms:modified>
</cp:coreProperties>
</file>